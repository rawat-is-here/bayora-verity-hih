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65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veat" panose="020B0604020202020204" charset="0"/>
      <p:regular r:id="rId11"/>
      <p:bold r:id="rId12"/>
    </p:embeddedFont>
    <p:embeddedFont>
      <p:font typeface="IBM Plex Sans" panose="020B0503050203000203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0318"/>
    <a:srgbClr val="FFFAE6"/>
    <a:srgbClr val="FFF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1776" autoAdjust="0"/>
    <p:restoredTop sz="94660"/>
  </p:normalViewPr>
  <p:slideViewPr>
    <p:cSldViewPr snapToGrid="0">
      <p:cViewPr varScale="1">
        <p:scale>
          <a:sx n="37" d="100"/>
          <a:sy n="37" d="100"/>
        </p:scale>
        <p:origin x="53" y="82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E3A0A402-22B8-5AE6-4C6D-FD808D72D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13474F9-D6AE-61D5-B2D6-53BEF92E51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CE04455-62BC-110E-D00E-D6258A9611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4285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243564" y="3162129"/>
            <a:ext cx="19967028" cy="3712212"/>
            <a:chOff x="-324752" y="-1744261"/>
            <a:chExt cx="26622705" cy="4949614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-324752" y="-1744261"/>
              <a:ext cx="24708753" cy="17393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55" b="1" i="0" u="none" strike="noStrike" cap="none" dirty="0">
                  <a:solidFill>
                    <a:schemeClr val="bg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TEAM TESERRACT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3733075" y="474350"/>
              <a:ext cx="22564878" cy="27310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Akash Rawat – AI Evaluation and Defense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Tejas </a:t>
              </a:r>
              <a:r>
                <a:rPr lang="en-US" sz="3169" b="1" dirty="0" err="1">
                  <a:solidFill>
                    <a:schemeClr val="bg1"/>
                  </a:solidFill>
                  <a:latin typeface="IBM Plex Sans"/>
                  <a:sym typeface="IBM Plex Sans"/>
                </a:rPr>
                <a:t>Chandane</a:t>
              </a: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 – Cybersecurity, Containment and Prompt Injection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Sarthak Bangar – Database and UI</a:t>
              </a:r>
              <a:endParaRPr dirty="0">
                <a:solidFill>
                  <a:schemeClr val="bg1"/>
                </a:solidFill>
              </a:endParaRPr>
            </a:p>
          </p:txBody>
        </p:sp>
      </p:grpSp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734336" y="-7722435"/>
            <a:ext cx="2865904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E7B3EE-64F3-CF85-685F-D5A5AAAD0A94}"/>
              </a:ext>
            </a:extLst>
          </p:cNvPr>
          <p:cNvSpPr txBox="1"/>
          <p:nvPr/>
        </p:nvSpPr>
        <p:spPr>
          <a:xfrm>
            <a:off x="4680856" y="8046145"/>
            <a:ext cx="11742057" cy="102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BAYORA</a:t>
            </a:r>
            <a:r>
              <a:rPr lang="en-US" sz="4000" b="1" dirty="0">
                <a:solidFill>
                  <a:schemeClr val="bg1"/>
                </a:solidFill>
              </a:rPr>
              <a:t> 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V.E.R.I.T.Y</a:t>
            </a:r>
            <a:endParaRPr lang="en-IN" sz="606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AF8847-26DE-78A2-9431-CB4D5B2D020F}"/>
              </a:ext>
            </a:extLst>
          </p:cNvPr>
          <p:cNvSpPr txBox="1"/>
          <p:nvPr/>
        </p:nvSpPr>
        <p:spPr>
          <a:xfrm>
            <a:off x="7394972" y="7317013"/>
            <a:ext cx="30123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PRESENTS</a:t>
            </a:r>
            <a:endParaRPr lang="en-IN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A7755-FCA3-B078-94A7-90C55CEED953}"/>
              </a:ext>
            </a:extLst>
          </p:cNvPr>
          <p:cNvSpPr txBox="1"/>
          <p:nvPr/>
        </p:nvSpPr>
        <p:spPr>
          <a:xfrm>
            <a:off x="5437962" y="9107974"/>
            <a:ext cx="6609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bg1"/>
                </a:solidFill>
              </a:rPr>
              <a:t>‘Validation of Evidence, Results, Isolation, Trust, and Yield’</a:t>
            </a:r>
            <a:endParaRPr lang="en-IN" sz="1800" b="1" i="1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60F250A-53C3-2FCD-6FC0-397321A0AF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575" y="7385738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60A677-BB99-C9B5-45C3-8DBF21740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F03195E-C6DD-682B-CF2F-130370236B45}"/>
              </a:ext>
            </a:extLst>
          </p:cNvPr>
          <p:cNvSpPr txBox="1"/>
          <p:nvPr/>
        </p:nvSpPr>
        <p:spPr>
          <a:xfrm>
            <a:off x="555625" y="1809065"/>
            <a:ext cx="15116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 Problem Statement - Securing Adversarial AI Safety Testing Infrastructure - </a:t>
            </a:r>
            <a:r>
              <a:rPr lang="en-IN" sz="2400" b="1" dirty="0" err="1">
                <a:solidFill>
                  <a:schemeClr val="bg1"/>
                </a:solidFill>
              </a:rPr>
              <a:t>Bayora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5872318D-08DF-4AA3-BC54-74410653FAA8}"/>
              </a:ext>
            </a:extLst>
          </p:cNvPr>
          <p:cNvSpPr txBox="1"/>
          <p:nvPr/>
        </p:nvSpPr>
        <p:spPr>
          <a:xfrm>
            <a:off x="1819843" y="2656532"/>
            <a:ext cx="10521525" cy="514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84" b="1" i="0" u="none" strike="noStrike" cap="none" dirty="0">
              <a:solidFill>
                <a:schemeClr val="bg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98" name="Google Shape;98;p14" title="pptnlogo.png">
            <a:extLst>
              <a:ext uri="{FF2B5EF4-FFF2-40B4-BE49-F238E27FC236}">
                <a16:creationId xmlns:a16="http://schemas.microsoft.com/office/drawing/2014/main" id="{958A8042-411A-437F-AA84-0A565C2C24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18E7F6-46CB-0D28-78D5-E06E83F58312}"/>
              </a:ext>
            </a:extLst>
          </p:cNvPr>
          <p:cNvSpPr txBox="1"/>
          <p:nvPr/>
        </p:nvSpPr>
        <p:spPr>
          <a:xfrm>
            <a:off x="555625" y="2256901"/>
            <a:ext cx="1209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- </a:t>
            </a:r>
            <a:r>
              <a:rPr lang="en-IN" sz="2400" b="1" dirty="0">
                <a:solidFill>
                  <a:schemeClr val="bg1"/>
                </a:solidFill>
              </a:rPr>
              <a:t>"Evaluation Integrity" for AI Safety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A38DD-0E7F-DC2F-81A8-754AE2524964}"/>
              </a:ext>
            </a:extLst>
          </p:cNvPr>
          <p:cNvSpPr txBox="1"/>
          <p:nvPr/>
        </p:nvSpPr>
        <p:spPr>
          <a:xfrm>
            <a:off x="259262" y="4164839"/>
            <a:ext cx="52752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Silent Crashes Counted as "Safe"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testing AI safety, standard runners only look at text outputs. If an evaluation server runs out of memory or a safety filter times out, the system mistakenly records a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100% false pass rate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Artificially Inflated Benchmark Scores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30% of major AI benchmark datasets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suffer from test-data leakage. Models recall prior answers and score up to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40% higher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than their true capability.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Unverifiable, 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Tamperable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 Audit Logs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Companies store safety reports in plain text files. There is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cryptographic proof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that logs were not altered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 (Volkswagen 2015)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 conditions leak, AI models adapt their responses just like emissions software did during the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Volkswagen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which resulted in 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$35 billion in fines and settlements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651555-622F-9724-1312-9B1DE0E51C0B}"/>
              </a:ext>
            </a:extLst>
          </p:cNvPr>
          <p:cNvSpPr txBox="1"/>
          <p:nvPr/>
        </p:nvSpPr>
        <p:spPr>
          <a:xfrm>
            <a:off x="1287692" y="3564109"/>
            <a:ext cx="18181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PROBLEM</a:t>
            </a:r>
            <a:endParaRPr lang="en-US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endParaRPr lang="en-IN" sz="2400" b="1" dirty="0"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91E16-B19E-3511-2FDF-E1B24736EDE7}"/>
              </a:ext>
            </a:extLst>
          </p:cNvPr>
          <p:cNvSpPr txBox="1"/>
          <p:nvPr/>
        </p:nvSpPr>
        <p:spPr>
          <a:xfrm>
            <a:off x="13927365" y="3660443"/>
            <a:ext cx="1667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00580" lvl="1">
              <a:buClr>
                <a:srgbClr val="1D1D1F"/>
              </a:buClr>
              <a:buSzPts val="2784"/>
            </a:pPr>
            <a:r>
              <a:rPr lang="en-US" sz="2400" b="1" dirty="0">
                <a:solidFill>
                  <a:schemeClr val="bg1"/>
                </a:solidFill>
                <a:latin typeface="+mj-lt"/>
                <a:sym typeface="IBM Plex Sans"/>
              </a:rPr>
              <a:t>IMPACT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97DEE-AA81-70A2-E899-AAFCC1F977CF}"/>
              </a:ext>
            </a:extLst>
          </p:cNvPr>
          <p:cNvSpPr txBox="1"/>
          <p:nvPr/>
        </p:nvSpPr>
        <p:spPr>
          <a:xfrm>
            <a:off x="8503920" y="423236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8BEA60-2442-BF4D-75B1-0350853CC3A2}"/>
              </a:ext>
            </a:extLst>
          </p:cNvPr>
          <p:cNvSpPr txBox="1"/>
          <p:nvPr/>
        </p:nvSpPr>
        <p:spPr>
          <a:xfrm>
            <a:off x="3618411" y="937913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03445-660C-1A79-CA9A-E90FF1662CB9}"/>
              </a:ext>
            </a:extLst>
          </p:cNvPr>
          <p:cNvSpPr txBox="1"/>
          <p:nvPr/>
        </p:nvSpPr>
        <p:spPr>
          <a:xfrm>
            <a:off x="12033988" y="4164839"/>
            <a:ext cx="596373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Eliminates False Passes with 4-State Health Checks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Replaces blind scores with continuous environment monitoring. If a server freezes or filters crash, the test is immediately rejected instead of falsely passing.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Stops Memory Leaks with Canary Tokens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Injects unique synthetic marker tokens to instantly detect if an AI model is "remembering" answers across test runs, ensuring benchmark scores reflect genuine safety rather than cached data.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Mathematically Tamper-Proof Audits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Hashes every test event into an unbroken SHA-256 chain sealed with Ed25519 digital signatures. Any attempt to modify, delete, or rewrite failed test results breaks the cryptographic verification instantly.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Replaces Blind Trust with Instant 1-Click Verification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Attack prompts remain locked in secure private vaults until tests pass clean.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878FA3-59C1-4636-6B5B-E2BD55F32C98}"/>
              </a:ext>
            </a:extLst>
          </p:cNvPr>
          <p:cNvSpPr txBox="1"/>
          <p:nvPr/>
        </p:nvSpPr>
        <p:spPr>
          <a:xfrm>
            <a:off x="6753931" y="3239841"/>
            <a:ext cx="3175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ALIGNMENT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E0E66-CD33-F7D2-6336-66F73C6A5086}"/>
              </a:ext>
            </a:extLst>
          </p:cNvPr>
          <p:cNvSpPr txBox="1"/>
          <p:nvPr/>
        </p:nvSpPr>
        <p:spPr>
          <a:xfrm>
            <a:off x="6296444" y="3979607"/>
            <a:ext cx="483999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1. Our solution directly aligns with the AI Safety and Trust theme by solving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Who Evaluates the Evaluator?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dilemma. 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2. Instead of blindly trusting self-reported model scores, BAYORA transforms AI evaluations from an unverified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honor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system into a mathematically verifiable pipeline using cryptographic hash chains and container isolation.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3. This guarantees that safety tests are conducted in clean, leak-free environments,  with tamper-proof evidence that complies with the EU AI Act and NIST AI Risk Management Framework.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4.</a:t>
            </a:r>
            <a:r>
              <a:rPr lang="en-IN" sz="1800" dirty="0"/>
              <a:t> 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Evaluates LLMs against benchmark datasets (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AdvBench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JailbreakBench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HarmBench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Lakera Gandalf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) without leaking state across red-blue boundaries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FFEC8970-B36A-C977-23AB-ABE093ACF8E3}"/>
              </a:ext>
            </a:extLst>
          </p:cNvPr>
          <p:cNvSpPr/>
          <p:nvPr/>
        </p:nvSpPr>
        <p:spPr>
          <a:xfrm>
            <a:off x="5398898" y="6248396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B0894D7-E35D-423D-EEFE-B61186D387FC}"/>
              </a:ext>
            </a:extLst>
          </p:cNvPr>
          <p:cNvSpPr/>
          <p:nvPr/>
        </p:nvSpPr>
        <p:spPr>
          <a:xfrm rot="10800000">
            <a:off x="11221147" y="6362699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2D56C6-40C4-4557-9665-FC59743F3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9873" y="3200165"/>
            <a:ext cx="1025185" cy="102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D55367B-CBA5-3647-F2E9-BEA7AD2E0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3097" y="2769928"/>
            <a:ext cx="1357640" cy="1357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FC236D5-2430-52CA-627B-86547F8486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7955" y="2862338"/>
            <a:ext cx="1403542" cy="140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24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5"/>
          <p:cNvGrpSpPr/>
          <p:nvPr/>
        </p:nvGrpSpPr>
        <p:grpSpPr>
          <a:xfrm>
            <a:off x="1452328" y="2029197"/>
            <a:ext cx="11438558" cy="1564786"/>
            <a:chOff x="0" y="0"/>
            <a:chExt cx="15251410" cy="2086381"/>
          </a:xfrm>
        </p:grpSpPr>
        <p:sp>
          <p:nvSpPr>
            <p:cNvPr id="105" name="Google Shape;105;p15"/>
            <p:cNvSpPr txBox="1"/>
            <p:nvPr/>
          </p:nvSpPr>
          <p:spPr>
            <a:xfrm>
              <a:off x="0" y="0"/>
              <a:ext cx="14028699" cy="6854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784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1222711" y="1399440"/>
              <a:ext cx="14028699" cy="6869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AFE89-4D24-F87A-E4F8-4AFA67B8A3F0}"/>
              </a:ext>
            </a:extLst>
          </p:cNvPr>
          <p:cNvSpPr txBox="1"/>
          <p:nvPr/>
        </p:nvSpPr>
        <p:spPr>
          <a:xfrm>
            <a:off x="128140" y="2219805"/>
            <a:ext cx="6171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 V.E.R.I.T.Y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is an automated, tamper-proof referee for AI safety evaluations. Instead of blindly trusting self-reported model scores, it continuously audits the testing environment to prove that safety evaluations were executed legitimately without crashes, context contamination, or result tampering.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743AE9-D040-FF81-AFE8-6BCDB3151BD2}"/>
              </a:ext>
            </a:extLst>
          </p:cNvPr>
          <p:cNvSpPr txBox="1"/>
          <p:nvPr/>
        </p:nvSpPr>
        <p:spPr>
          <a:xfrm>
            <a:off x="189955" y="4697933"/>
            <a:ext cx="2614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KEY FEATURES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9A02DA-D5E5-A545-7B5C-41838BF05DD4}"/>
              </a:ext>
            </a:extLst>
          </p:cNvPr>
          <p:cNvSpPr txBox="1"/>
          <p:nvPr/>
        </p:nvSpPr>
        <p:spPr>
          <a:xfrm>
            <a:off x="144919" y="5494587"/>
            <a:ext cx="617106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Separate Workspaces (Three Locked Rooms)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the Attacker, Defender, and AI Model in completely isolated rooms so they cannot peek into each other's code or memory.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Strict Traffic Controller (Smart Referee)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Acts as a digital referee that checks and filters every single message sent between parties, blocking unauthorized access.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Complete Run Blackbox (Tamper-Proof Audit)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Records every action, test event, and setting into a sealed record book so anyone can verify exactly what happened.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Timed Blind Testing (Delayed Reveal)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attack prompts hidden from defenders and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defense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rules hidden from attackers until the testing round is officially over.</a:t>
            </a:r>
            <a:endParaRPr lang="en-IN" sz="1600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B5E181-644A-B486-17EB-02379B153512}"/>
              </a:ext>
            </a:extLst>
          </p:cNvPr>
          <p:cNvSpPr txBox="1"/>
          <p:nvPr/>
        </p:nvSpPr>
        <p:spPr>
          <a:xfrm>
            <a:off x="7555007" y="2961925"/>
            <a:ext cx="9323294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1. Enforcement-Point Cryptographic Proof (RFC 8785 + Ed25519)</a:t>
            </a: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Generates an unbroken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SHA-256 hash chain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anchored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Ed25519 digital signatures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using strict canonical serialization (RFC 8785). An auditor can verify the test trail offline in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&lt;1 second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with zero access to our servers. Modifying even 1 byte in history invalidates the entire chain.</a:t>
            </a:r>
          </a:p>
          <a:p>
            <a:pPr lvl="0"/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2.</a:t>
            </a:r>
            <a:r>
              <a:rPr lang="en-IN" sz="1800" b="1" dirty="0">
                <a:solidFill>
                  <a:schemeClr val="bg1"/>
                </a:solidFill>
              </a:rPr>
              <a:t> Verifiable Test History (DARPA Provenance):</a:t>
            </a:r>
            <a:r>
              <a:rPr lang="en-IN" sz="1800" dirty="0">
                <a:solidFill>
                  <a:schemeClr val="bg1"/>
                </a:solidFill>
              </a:rPr>
              <a:t> Creates an unbroken digital paper trail sealed with Ed25519 signatures, allowing any judge or auditor to verify and replay the exact test run offline.</a:t>
            </a:r>
            <a:br>
              <a:rPr lang="en-IN" sz="1800" b="1" dirty="0">
                <a:solidFill>
                  <a:schemeClr val="bg1"/>
                </a:solidFill>
              </a:rPr>
            </a:br>
            <a:br>
              <a:rPr lang="en-IN" sz="1800" b="1" dirty="0">
                <a:solidFill>
                  <a:schemeClr val="bg1"/>
                </a:solidFill>
              </a:rPr>
            </a:b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3. Four-State Environmental Health Gate (Beyond Naive Pass/Fail)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Decouples model output from execution integrity using a deterministic 4-state engine (VALID, INVALIDATED, INCONCLUSIVE, NOT EVALUATED). Technical failures and observer blackouts immediately disqualify the run instead of faking a passing score.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. Lakera Gandalf &amp; Prompt Leak Containment: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Zero-tolerance canary tripwires instantly flag secret and system-prompt exfiltration before it reaches the model output.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5. Dual-Tenant Blinded Release Vaults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Holds proprietary attack payloads in encrypted isolation behind HMAC capability tokens. Test payloads are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physically prevented from releasing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until the evaluation run is cryptographically verified as clean and uncorrupted.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Google Shape;103;p15">
            <a:extLst>
              <a:ext uri="{FF2B5EF4-FFF2-40B4-BE49-F238E27FC236}">
                <a16:creationId xmlns:a16="http://schemas.microsoft.com/office/drawing/2014/main" id="{B7FE78F2-52BE-8616-A91C-810EAF868EFE}"/>
              </a:ext>
            </a:extLst>
          </p:cNvPr>
          <p:cNvSpPr txBox="1"/>
          <p:nvPr/>
        </p:nvSpPr>
        <p:spPr>
          <a:xfrm>
            <a:off x="-279400" y="1503921"/>
            <a:ext cx="2771894" cy="118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SOLUTION</a:t>
            </a:r>
            <a:endParaRPr sz="2400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03;p15">
            <a:extLst>
              <a:ext uri="{FF2B5EF4-FFF2-40B4-BE49-F238E27FC236}">
                <a16:creationId xmlns:a16="http://schemas.microsoft.com/office/drawing/2014/main" id="{239B3B8A-F80B-646F-19A3-7869DEF369DC}"/>
              </a:ext>
            </a:extLst>
          </p:cNvPr>
          <p:cNvSpPr txBox="1"/>
          <p:nvPr/>
        </p:nvSpPr>
        <p:spPr>
          <a:xfrm>
            <a:off x="8742399" y="1774141"/>
            <a:ext cx="6385384" cy="170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UNIQUE VALUE PROPOSITIONS</a:t>
            </a:r>
            <a:b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~BEYOND THE PROBLEM STATEMENTS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N"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47C1D8-6D13-2312-EA72-63C044588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843" y="1112422"/>
            <a:ext cx="1323439" cy="13234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BAE11E-60E7-15C5-1EF0-89DEB29C1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8776" y="4282932"/>
            <a:ext cx="1283001" cy="12830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9D7FF91-59B4-8736-DB0B-369769703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56332" y="1256655"/>
            <a:ext cx="2438400" cy="2438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AC311B-33FA-062F-A0B8-C54FC9BA38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78301" y="5094981"/>
            <a:ext cx="1007581" cy="10075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1732CEC-758B-29E0-05B5-2CA45A8463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805935" y="6470578"/>
            <a:ext cx="1152311" cy="115231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5169FC-0DE2-7D3A-5604-C66A317140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18957" y="3289102"/>
            <a:ext cx="1126270" cy="112627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A98CE55-DE27-9B35-08CF-532C2714BFF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49013" y="7911104"/>
            <a:ext cx="1152311" cy="1152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1225986" y="3412535"/>
            <a:ext cx="4706682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ARCHITECTURE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3" name="Google Shape;113;p16"/>
          <p:cNvGrpSpPr/>
          <p:nvPr/>
        </p:nvGrpSpPr>
        <p:grpSpPr>
          <a:xfrm>
            <a:off x="3418425" y="5202605"/>
            <a:ext cx="22310280" cy="1288284"/>
            <a:chOff x="1332206" y="3361663"/>
            <a:chExt cx="29747036" cy="1717711"/>
          </a:xfrm>
        </p:grpSpPr>
        <p:sp>
          <p:nvSpPr>
            <p:cNvPr id="114" name="Google Shape;114;p16"/>
            <p:cNvSpPr txBox="1"/>
            <p:nvPr/>
          </p:nvSpPr>
          <p:spPr>
            <a:xfrm>
              <a:off x="15794256" y="4488442"/>
              <a:ext cx="15284986" cy="5909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TECH STACK</a:t>
              </a:r>
              <a:endParaRPr sz="2400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15" name="Google Shape;115;p16"/>
            <p:cNvSpPr txBox="1"/>
            <p:nvPr/>
          </p:nvSpPr>
          <p:spPr>
            <a:xfrm>
              <a:off x="1332206" y="3361663"/>
              <a:ext cx="15284988" cy="6160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945089-1D5E-5153-8D44-5185F7C55DC6}"/>
              </a:ext>
            </a:extLst>
          </p:cNvPr>
          <p:cNvSpPr txBox="1"/>
          <p:nvPr/>
        </p:nvSpPr>
        <p:spPr>
          <a:xfrm>
            <a:off x="2540000" y="36195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4605E-1A4A-E953-4D4F-79CBBF583EB9}"/>
              </a:ext>
            </a:extLst>
          </p:cNvPr>
          <p:cNvSpPr txBox="1"/>
          <p:nvPr/>
        </p:nvSpPr>
        <p:spPr>
          <a:xfrm>
            <a:off x="12978311" y="6616167"/>
            <a:ext cx="53527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Backend &amp; API: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Python 3.14,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FastAPI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Uvicorn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Pydantic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v2</a:t>
            </a: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Cryptography: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RFC 8785 (Canonical JSON), Ed25519, SHA-256, HMAC-SHA256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Sandboxing &amp; Governance: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Docker / OCI, Linux Namespaces,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psutil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Telemetry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Frontend: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Tailwind CSS, HTML5 Canvas API, Vanilla JS 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Testing: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Pytest-Asyncio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0524E-8E57-5F80-6D8E-777621558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210" y="9429999"/>
            <a:ext cx="15753541" cy="8330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C769D-930D-E2FA-84F0-73D996B1C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11981" y="737673"/>
            <a:ext cx="8229064" cy="9237149"/>
          </a:xfrm>
          <a:prstGeom prst="rect">
            <a:avLst/>
          </a:prstGeom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ACA28802-46C4-58CD-6098-37EF55A1D819}"/>
              </a:ext>
            </a:extLst>
          </p:cNvPr>
          <p:cNvSpPr txBox="1"/>
          <p:nvPr/>
        </p:nvSpPr>
        <p:spPr>
          <a:xfrm>
            <a:off x="1449210" y="6583054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USER FLOW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EC26E158-0E2D-55D0-11D7-9F08A85B5CF6}"/>
              </a:ext>
            </a:extLst>
          </p:cNvPr>
          <p:cNvSpPr txBox="1"/>
          <p:nvPr/>
        </p:nvSpPr>
        <p:spPr>
          <a:xfrm>
            <a:off x="1449210" y="5433629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&amp;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6507E36-7570-097B-6579-674476FD54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9006"/>
          <a:stretch>
            <a:fillRect/>
          </a:stretch>
        </p:blipFill>
        <p:spPr>
          <a:xfrm>
            <a:off x="8509714" y="1407127"/>
            <a:ext cx="4468597" cy="3619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368D41-0776-33E1-17D6-CF07E334AA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9425" t="-2824" r="-419" b="2824"/>
          <a:stretch>
            <a:fillRect/>
          </a:stretch>
        </p:blipFill>
        <p:spPr>
          <a:xfrm>
            <a:off x="8856725" y="5722375"/>
            <a:ext cx="4468597" cy="36195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9009757-EB64-AA24-7923-D20A8FD3A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6217961" y="1242409"/>
            <a:ext cx="3810000" cy="85725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185BF20-EFA1-047E-6C37-544B2B7303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351681" y="1239768"/>
            <a:ext cx="3810000" cy="85725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CF2159B-2C99-2C13-7AE8-14C3B44DE954}"/>
              </a:ext>
            </a:extLst>
          </p:cNvPr>
          <p:cNvSpPr txBox="1"/>
          <p:nvPr/>
        </p:nvSpPr>
        <p:spPr>
          <a:xfrm>
            <a:off x="13544245" y="1522740"/>
            <a:ext cx="40254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LATENCY BREAKDOWN</a:t>
            </a:r>
            <a:b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	     ~5.5ms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Google Shape;112;p16">
            <a:extLst>
              <a:ext uri="{FF2B5EF4-FFF2-40B4-BE49-F238E27FC236}">
                <a16:creationId xmlns:a16="http://schemas.microsoft.com/office/drawing/2014/main" id="{D144CAB1-9BC4-3A83-1A6D-A8E1D8A3454C}"/>
              </a:ext>
            </a:extLst>
          </p:cNvPr>
          <p:cNvSpPr txBox="1"/>
          <p:nvPr/>
        </p:nvSpPr>
        <p:spPr>
          <a:xfrm>
            <a:off x="8557036" y="5041108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ISOLATION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114FB49-0979-C658-45C4-1603D47C12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348" y="1216066"/>
            <a:ext cx="2940428" cy="2180544"/>
          </a:xfrm>
          <a:prstGeom prst="round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5ACA9F8-558D-9D0B-F641-7A0A0314352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7970" y="1205516"/>
            <a:ext cx="3048000" cy="2047107"/>
          </a:xfrm>
          <a:prstGeom prst="round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BED2B43-23A8-6A0B-5A98-E37F5F6C04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00522" y="4286592"/>
            <a:ext cx="3048000" cy="2136550"/>
          </a:xfrm>
          <a:prstGeom prst="round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9518AF26-60B3-17A0-E55F-51A7D0AFBE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222" y="4256025"/>
            <a:ext cx="3048000" cy="2013266"/>
          </a:xfrm>
          <a:prstGeom prst="round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F27F5C3-28D8-85B8-ECAA-428CBF1288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1643" y="7269554"/>
            <a:ext cx="3048000" cy="2013266"/>
          </a:xfrm>
          <a:prstGeom prst="round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3E26943-EFA3-A946-0508-171776C7BCB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67382" y="7198233"/>
            <a:ext cx="3048000" cy="2143642"/>
          </a:xfrm>
          <a:prstGeom prst="round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B5C3CAD-9F04-480C-9150-DC428199FE5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2025" r="34394"/>
          <a:stretch>
            <a:fillRect/>
          </a:stretch>
        </p:blipFill>
        <p:spPr>
          <a:xfrm>
            <a:off x="13765136" y="1826000"/>
            <a:ext cx="3455040" cy="459714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91F0849-2AA7-6835-24DC-F595AFE1ABC8}"/>
              </a:ext>
            </a:extLst>
          </p:cNvPr>
          <p:cNvSpPr txBox="1"/>
          <p:nvPr/>
        </p:nvSpPr>
        <p:spPr>
          <a:xfrm>
            <a:off x="17221296" y="2479015"/>
            <a:ext cx="10583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Digital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Signature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and proof 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C00869-4AE3-CCFF-BE8E-3A25408D0B49}"/>
              </a:ext>
            </a:extLst>
          </p:cNvPr>
          <p:cNvSpPr txBox="1"/>
          <p:nvPr/>
        </p:nvSpPr>
        <p:spPr>
          <a:xfrm>
            <a:off x="17277534" y="5186301"/>
            <a:ext cx="10534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Memory and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Sandbox Safety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E761ED-FF7D-DF65-812B-692782C05245}"/>
              </a:ext>
            </a:extLst>
          </p:cNvPr>
          <p:cNvSpPr txBox="1"/>
          <p:nvPr/>
        </p:nvSpPr>
        <p:spPr>
          <a:xfrm>
            <a:off x="12685833" y="5237942"/>
            <a:ext cx="13388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Tamper proof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log checks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4CD4AA-5B5E-3DA3-461A-C2C4D0C15C01}"/>
              </a:ext>
            </a:extLst>
          </p:cNvPr>
          <p:cNvSpPr txBox="1"/>
          <p:nvPr/>
        </p:nvSpPr>
        <p:spPr>
          <a:xfrm>
            <a:off x="12648609" y="2500916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Vault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access-control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73546B-AA12-BC8A-1718-7BFA76D43D9F}"/>
              </a:ext>
            </a:extLst>
          </p:cNvPr>
          <p:cNvSpPr txBox="1"/>
          <p:nvPr/>
        </p:nvSpPr>
        <p:spPr>
          <a:xfrm>
            <a:off x="16900763" y="3160303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(33% ~1.8ms)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D82E27-2850-2863-C6D9-F77CAFC7FA46}"/>
              </a:ext>
            </a:extLst>
          </p:cNvPr>
          <p:cNvSpPr txBox="1"/>
          <p:nvPr/>
        </p:nvSpPr>
        <p:spPr>
          <a:xfrm>
            <a:off x="12943561" y="2984304"/>
            <a:ext cx="1175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(18% ~1ms)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62E183-2882-0361-E0D9-21A074854775}"/>
              </a:ext>
            </a:extLst>
          </p:cNvPr>
          <p:cNvSpPr txBox="1"/>
          <p:nvPr/>
        </p:nvSpPr>
        <p:spPr>
          <a:xfrm>
            <a:off x="12744864" y="4989611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(22% ~1.2ms)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D649E4-6D13-A2C5-94D5-F7B9238EFE78}"/>
              </a:ext>
            </a:extLst>
          </p:cNvPr>
          <p:cNvSpPr txBox="1"/>
          <p:nvPr/>
        </p:nvSpPr>
        <p:spPr>
          <a:xfrm>
            <a:off x="16744119" y="4958823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(27% ~1.5ms)</a:t>
            </a:r>
            <a:endParaRPr lang="en-IN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4151191" y="1244615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MARKET RESEARCH/ANALYSIS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2" name="Google Shape;122;p17"/>
          <p:cNvGrpSpPr/>
          <p:nvPr/>
        </p:nvGrpSpPr>
        <p:grpSpPr>
          <a:xfrm>
            <a:off x="544835" y="2082950"/>
            <a:ext cx="13857667" cy="3691527"/>
            <a:chOff x="-3225479" y="-712448"/>
            <a:chExt cx="18476889" cy="4922037"/>
          </a:xfrm>
        </p:grpSpPr>
        <p:sp>
          <p:nvSpPr>
            <p:cNvPr id="123" name="Google Shape;123;p17"/>
            <p:cNvSpPr txBox="1"/>
            <p:nvPr/>
          </p:nvSpPr>
          <p:spPr>
            <a:xfrm>
              <a:off x="-3225479" y="-712448"/>
              <a:ext cx="15251410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7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TARGET USERS</a:t>
              </a:r>
              <a:endParaRPr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24" name="Google Shape;124;p17"/>
            <p:cNvSpPr txBox="1"/>
            <p:nvPr/>
          </p:nvSpPr>
          <p:spPr>
            <a:xfrm>
              <a:off x="1222710" y="36346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A53391-5CA0-70E6-C9E9-4E4F2277A9A6}"/>
              </a:ext>
            </a:extLst>
          </p:cNvPr>
          <p:cNvSpPr txBox="1"/>
          <p:nvPr/>
        </p:nvSpPr>
        <p:spPr>
          <a:xfrm>
            <a:off x="5856790" y="394696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B67F2-FFDF-A792-D9E0-245168191440}"/>
              </a:ext>
            </a:extLst>
          </p:cNvPr>
          <p:cNvSpPr txBox="1"/>
          <p:nvPr/>
        </p:nvSpPr>
        <p:spPr>
          <a:xfrm>
            <a:off x="516201" y="2939970"/>
            <a:ext cx="60003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Research Labs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blind vaults so models cannot cheat or leak private benchmark questions.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Dev Teams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Need to verify that AI coding agents aren't faking passes or spoofing test exit codes.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Leaderboards &amp; Competitions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cryptographic proofs to guarantee scores reflect authentic, un-tampered code runs.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Compliance &amp; Security Teams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unalterable digital receipts to prove AI software safety under emerging laws like the EU AI Act.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E0C66-A215-E85E-C6F4-C93E74C866D5}"/>
              </a:ext>
            </a:extLst>
          </p:cNvPr>
          <p:cNvSpPr txBox="1"/>
          <p:nvPr/>
        </p:nvSpPr>
        <p:spPr>
          <a:xfrm>
            <a:off x="12731048" y="2885988"/>
            <a:ext cx="524333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TAM ($5.8B):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total global market for AI governance, evaluation platforms, and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MLOps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tooling.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SAM ($1.4B):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specialized market segment focused specifically on automated AI code testing and sandbox security.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SOM ($140M):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Our realistic 3-year market share targeting high-trust AI leaderboard hosts and enterprise coding-agent teams.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123;p17">
            <a:extLst>
              <a:ext uri="{FF2B5EF4-FFF2-40B4-BE49-F238E27FC236}">
                <a16:creationId xmlns:a16="http://schemas.microsoft.com/office/drawing/2014/main" id="{B3A46603-49C1-B4C2-C015-A62570D4F395}"/>
              </a:ext>
            </a:extLst>
          </p:cNvPr>
          <p:cNvSpPr txBox="1"/>
          <p:nvPr/>
        </p:nvSpPr>
        <p:spPr>
          <a:xfrm>
            <a:off x="13440138" y="215752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MARKET SIZE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123;p17">
            <a:extLst>
              <a:ext uri="{FF2B5EF4-FFF2-40B4-BE49-F238E27FC236}">
                <a16:creationId xmlns:a16="http://schemas.microsoft.com/office/drawing/2014/main" id="{6C2A2A5B-64B9-1246-5DC8-953F5EEA11C0}"/>
              </a:ext>
            </a:extLst>
          </p:cNvPr>
          <p:cNvSpPr txBox="1"/>
          <p:nvPr/>
        </p:nvSpPr>
        <p:spPr>
          <a:xfrm>
            <a:off x="7459330" y="2061391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REVENUE MODEL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F8405D-1D06-EE9F-8255-E4C04020E913}"/>
              </a:ext>
            </a:extLst>
          </p:cNvPr>
          <p:cNvSpPr txBox="1"/>
          <p:nvPr/>
        </p:nvSpPr>
        <p:spPr>
          <a:xfrm>
            <a:off x="7476138" y="2939970"/>
            <a:ext cx="42953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Developer API (Pay-Per-Run) 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Charges $0.005 to $0.01 per execution for automated, cryptographically signed test receipts.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SaaS License ($30K–$75K/yr)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Annual subscription for private VPC deployment, custom secret vaults, and compliance exports.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Benchmark Certification Fee ($5K–$15K)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Flat fee to independently audit and certify official public leaderboard scores for new model releases.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D822C-A226-70B8-F5C4-CA57263E915A}"/>
              </a:ext>
            </a:extLst>
          </p:cNvPr>
          <p:cNvSpPr txBox="1"/>
          <p:nvPr/>
        </p:nvSpPr>
        <p:spPr>
          <a:xfrm>
            <a:off x="222405" y="7567921"/>
            <a:ext cx="121089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1 — Benchmark Integration (Months 1–6):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Integrate the core engine into open-source coding benchmarks (like SWE-bench) to independently verify over 50,000 runs and prove zero false passes.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2 — CI/CD &amp; Developer Tooling (Months 6–18):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Release official GitHub Actions, pre-commit hooks, and Docker sandboxes so developer teams and autonomous agents can run verified tests locally.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3 — Multi-Language Expansion (Months 18–24):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Expand beyond Python into Rust, Go, and TypeScript sandboxes, allowing teams to test polyglot codebases with the same 5.5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verification engine.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4 — Open Verification Protocol (Months 24+):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Standardize the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receipt format as an open, cross-platform protocol for cryptographic proof of AI code evaluation across the open-source</a:t>
            </a:r>
            <a:endParaRPr lang="en-IN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16" name="Google Shape;123;p17">
            <a:extLst>
              <a:ext uri="{FF2B5EF4-FFF2-40B4-BE49-F238E27FC236}">
                <a16:creationId xmlns:a16="http://schemas.microsoft.com/office/drawing/2014/main" id="{B81C6AFF-9D6A-0BA0-37A7-F692D4ADAE55}"/>
              </a:ext>
            </a:extLst>
          </p:cNvPr>
          <p:cNvSpPr txBox="1"/>
          <p:nvPr/>
        </p:nvSpPr>
        <p:spPr>
          <a:xfrm>
            <a:off x="322242" y="693410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EXPECTED GROWTH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9E1DC5C-7AFC-74CB-6EEF-1A2CFCE735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41" t="7859" r="43986" b="14573"/>
          <a:stretch>
            <a:fillRect/>
          </a:stretch>
        </p:blipFill>
        <p:spPr>
          <a:xfrm>
            <a:off x="11672772" y="5924104"/>
            <a:ext cx="4616426" cy="485664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5514039-7928-17AD-4C23-A6B4253041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458" t="18354" r="3778" b="16559"/>
          <a:stretch>
            <a:fillRect/>
          </a:stretch>
        </p:blipFill>
        <p:spPr>
          <a:xfrm>
            <a:off x="15793299" y="6567906"/>
            <a:ext cx="2468768" cy="27586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AED8AB8-DA73-8410-8E95-A943FF517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347" y="1536633"/>
            <a:ext cx="1657029" cy="16570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223340-F0FC-5C55-A6E8-A8159E4E06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52489" y="1467601"/>
            <a:ext cx="1816621" cy="18166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02FDE94-C8E6-42C1-20D5-ECEC102596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07399" y="1536633"/>
            <a:ext cx="1559630" cy="155963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C24F8EA-DDFA-DA8A-8041-73813F63D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6046" y="6302308"/>
            <a:ext cx="1542660" cy="15426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8C6F3F-DB75-C84B-B2E8-E802A8D62193}"/>
              </a:ext>
            </a:extLst>
          </p:cNvPr>
          <p:cNvSpPr/>
          <p:nvPr/>
        </p:nvSpPr>
        <p:spPr>
          <a:xfrm>
            <a:off x="13980985" y="8799027"/>
            <a:ext cx="978445" cy="265598"/>
          </a:xfrm>
          <a:prstGeom prst="rect">
            <a:avLst/>
          </a:prstGeom>
          <a:solidFill>
            <a:srgbClr val="C70318"/>
          </a:solidFill>
          <a:ln>
            <a:solidFill>
              <a:srgbClr val="C703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891-BD69-7402-D5CC-78BBEC655A68}"/>
              </a:ext>
            </a:extLst>
          </p:cNvPr>
          <p:cNvSpPr txBox="1"/>
          <p:nvPr/>
        </p:nvSpPr>
        <p:spPr>
          <a:xfrm>
            <a:off x="14108118" y="8705603"/>
            <a:ext cx="993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74%</a:t>
            </a:r>
            <a:endParaRPr lang="en-IN" sz="35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3598817" y="1632214"/>
            <a:ext cx="906406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FUTURE SCOPE AND SCALING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BBADCF-A047-7DC9-C0CF-B0BA721691E6}"/>
              </a:ext>
            </a:extLst>
          </p:cNvPr>
          <p:cNvSpPr txBox="1"/>
          <p:nvPr/>
        </p:nvSpPr>
        <p:spPr>
          <a:xfrm>
            <a:off x="548640" y="2612571"/>
            <a:ext cx="16642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Hardware-Enclave Sandboxes (Confidential Computing)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Upgrading software memory cleanrooms into hardware-isolated CPU enclaves (Intel SGX) so even cloud hosts cannot tamper with or inspect private test runs.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Polyglot &amp; Multi-Language Sandboxes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Expanding the 5.5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verification engine beyond Python to Rust, Go, TypeScript, and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WebAssembly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for full-stack autonomous agent codebases.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Enterprise CI/CD Gateways (Agent Firewalls)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Native GitHub Actions and Kubernetes admission controllers that automatically block AI-generated PRs from merging without a valid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digital signature.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Decentralized Multi-Node Leaderboards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Enabling independent nodes to cross-verify model submissions in parallel, eliminating vendor bias and creating a tamper-proof global benchmark standard.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Global Open Protocol: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Establishing an open, multi-region standard for cryptographic AI test receipts across the global dev community.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130;p18">
            <a:extLst>
              <a:ext uri="{FF2B5EF4-FFF2-40B4-BE49-F238E27FC236}">
                <a16:creationId xmlns:a16="http://schemas.microsoft.com/office/drawing/2014/main" id="{7F1A4901-1FCB-6964-130D-F44EBFAE67F7}"/>
              </a:ext>
            </a:extLst>
          </p:cNvPr>
          <p:cNvSpPr txBox="1"/>
          <p:nvPr/>
        </p:nvSpPr>
        <p:spPr>
          <a:xfrm>
            <a:off x="-822961" y="6505599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RUNNING COST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0D6BC1-A7CE-EEA9-5090-979099117329}"/>
              </a:ext>
            </a:extLst>
          </p:cNvPr>
          <p:cNvSpPr txBox="1"/>
          <p:nvPr/>
        </p:nvSpPr>
        <p:spPr>
          <a:xfrm>
            <a:off x="548640" y="7409167"/>
            <a:ext cx="815479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External API Costs ($0.00):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No LLM token bills. 100% local, offline cryptographic verification.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Microscopic Compute Cost (~$0.00008 / run):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Consumes just ~5.5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of standard CPU time per execution.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95%+ Gross Margins: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 $0.005 charged per run vs. $0.00008 compute cost, economics scale effortlessly.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Low Infrastructure Burn (~$150 / month):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Handles 1,000,000 verified runs/month on 3 basic load-balanced CPU nodes.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Google Shape;130;p18">
            <a:extLst>
              <a:ext uri="{FF2B5EF4-FFF2-40B4-BE49-F238E27FC236}">
                <a16:creationId xmlns:a16="http://schemas.microsoft.com/office/drawing/2014/main" id="{2DE3EFBE-76FD-B8C8-6D81-FF9ECE82DEE6}"/>
              </a:ext>
            </a:extLst>
          </p:cNvPr>
          <p:cNvSpPr txBox="1"/>
          <p:nvPr/>
        </p:nvSpPr>
        <p:spPr>
          <a:xfrm>
            <a:off x="8407145" y="6570703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FEASIBILITY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94646-8DD0-6479-8337-FE1526513389}"/>
              </a:ext>
            </a:extLst>
          </p:cNvPr>
          <p:cNvSpPr txBox="1"/>
          <p:nvPr/>
        </p:nvSpPr>
        <p:spPr>
          <a:xfrm>
            <a:off x="9277225" y="7737089"/>
            <a:ext cx="79134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Technical Feasibility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Runs on basic commodity CPUs (x86_64 / ARM64). Zero expensive H100 GPU clusters needed.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Operational Feasibility: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Drop-in replacement for standard runners (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run) via a lightweight CLI, GitHub Action, or Docker image.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CF47915-3DF2-1641-A333-A32AB14DB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517" y="6108062"/>
            <a:ext cx="1883283" cy="188328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A55E924-51EA-9493-5F89-D27A7A065E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34481" y="6087472"/>
            <a:ext cx="2081819" cy="208181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9052026-8F8B-4FDB-87F7-0253880C3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83252" y="812531"/>
            <a:ext cx="2230319" cy="22303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960536" y="1226057"/>
            <a:ext cx="1610420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CHALLENGES, BOTTLENECKS AND HOW WE SOLVED THEM?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0" name="Google Shape;140;p19"/>
          <p:cNvGrpSpPr/>
          <p:nvPr/>
        </p:nvGrpSpPr>
        <p:grpSpPr>
          <a:xfrm>
            <a:off x="2196451" y="2405409"/>
            <a:ext cx="11438558" cy="2738091"/>
            <a:chOff x="0" y="0"/>
            <a:chExt cx="15251410" cy="3650789"/>
          </a:xfrm>
        </p:grpSpPr>
        <p:sp>
          <p:nvSpPr>
            <p:cNvPr id="141" name="Google Shape;141;p19"/>
            <p:cNvSpPr txBox="1"/>
            <p:nvPr/>
          </p:nvSpPr>
          <p:spPr>
            <a:xfrm>
              <a:off x="0" y="0"/>
              <a:ext cx="15251399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27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2" name="Google Shape;142;p19"/>
            <p:cNvSpPr txBox="1"/>
            <p:nvPr/>
          </p:nvSpPr>
          <p:spPr>
            <a:xfrm>
              <a:off x="1222710" y="30758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0DBA99-C768-37F1-6102-527A2F972476}"/>
              </a:ext>
            </a:extLst>
          </p:cNvPr>
          <p:cNvSpPr txBox="1"/>
          <p:nvPr/>
        </p:nvSpPr>
        <p:spPr>
          <a:xfrm>
            <a:off x="1649350" y="2072345"/>
            <a:ext cx="14084300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. The Latency Bottleneck: Heavy Cryptography vs. Real-Time CI/CD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Adding digital signatures, SHA-256 state hashing, and memory scans to every test execution risks adding 50–100+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of lag, which would make CI/CD pipelines sluggish.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Implemented C-accelerated cryptographic primitives (Open SSL) and byte-level streaming.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Squeezed the entire verification pipeline down to a median of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~5.5 </a:t>
            </a:r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(&lt; 0.05% runtime overhead).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2. The Non-Determinism Trap: Deterministic Hashing on Dynamic Outputs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Python dictionaries,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stdout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buffering, timestamp variations, and floating-point outputs are non-deterministic. A difference of even a single whitespace or key order changes the hash completely, causing false rejections.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Adopted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RFC 8785 Canonical JSON Specification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strictly normalize dictionary ordering, line breaks, and stream buffers before hash-chaining.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100% deterministic, tamper-proof logs across different machines without breaking valid runs.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3. The Sandbox Dilemma: Heavy VMs vs. Lightweight Process Isolation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Full virtual machines or Docker containers take 500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3,000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boot up for each test. For benchmark suites with thousands of questions, this creates massive throughput bottlenecks.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Built disposable cleanroom sandboxes protected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in-memory canary guards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rather than heavy VM hypervisors.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Instantaneous sub-millisecond process boot times that still catch memory corruption, heap manipulation, and unauthorized subprocesses.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4. The "Dual Blindness" Problem: Privacy vs. Proof (DARPA)</a:t>
            </a: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     The Challenge: How do you test an AI with secret attack prompts without the model leaking them?</a:t>
            </a: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     The Solution: 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Dual-Sided Blind Vaults with Canary Tripwires. The AI only sees temporary, isolated references, and canary tokens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     immediately sound an alarm if the model tries to leak secrets (like in Lakera Gandalf attacks).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     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Outcome: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Zero prompt leaks, plus an ECDSA digital receipt proving the test happened without revealing secret data.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377927-22B2-DDC7-9F41-3F4CDCBA0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191" y="2405409"/>
            <a:ext cx="1823072" cy="18230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48EE0E-9231-7CF4-02FE-AD495BE5E4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3944" y="4047415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FD81A6-27D2-B0EC-1E9E-0DCE6D78D2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64438" y="6134996"/>
            <a:ext cx="1992825" cy="1992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512560-7AC1-F69F-70BA-0A5A5316B4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6347" y="8127821"/>
            <a:ext cx="2215613" cy="22156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88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167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7BBA23-8A31-B7CF-F414-E976B4E5711C}"/>
              </a:ext>
            </a:extLst>
          </p:cNvPr>
          <p:cNvSpPr txBox="1"/>
          <p:nvPr/>
        </p:nvSpPr>
        <p:spPr>
          <a:xfrm>
            <a:off x="7791708" y="9545088"/>
            <a:ext cx="10328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b="1" i="1" dirty="0">
                <a:solidFill>
                  <a:schemeClr val="bg1">
                    <a:lumMod val="95000"/>
                  </a:schemeClr>
                </a:solidFill>
              </a:rPr>
              <a:t>Benchmarks &amp; Datasets:</a:t>
            </a:r>
            <a:r>
              <a:rPr lang="en-IN" sz="1600" i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IN" sz="1600" i="1" dirty="0" err="1">
                <a:solidFill>
                  <a:schemeClr val="bg1">
                    <a:lumMod val="95000"/>
                  </a:schemeClr>
                </a:solidFill>
              </a:rPr>
              <a:t>AdvBench</a:t>
            </a:r>
            <a:r>
              <a:rPr lang="en-IN" sz="1600" i="1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600" i="1" dirty="0" err="1">
                <a:solidFill>
                  <a:schemeClr val="bg1">
                    <a:lumMod val="95000"/>
                  </a:schemeClr>
                </a:solidFill>
              </a:rPr>
              <a:t>JailbreakBench</a:t>
            </a:r>
            <a:r>
              <a:rPr lang="en-IN" sz="1600" i="1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600" i="1" dirty="0" err="1">
                <a:solidFill>
                  <a:schemeClr val="bg1">
                    <a:lumMod val="95000"/>
                  </a:schemeClr>
                </a:solidFill>
              </a:rPr>
              <a:t>HarmBench</a:t>
            </a:r>
            <a:r>
              <a:rPr lang="en-IN" sz="1600" i="1" dirty="0">
                <a:solidFill>
                  <a:schemeClr val="bg1">
                    <a:lumMod val="95000"/>
                  </a:schemeClr>
                </a:solidFill>
              </a:rPr>
              <a:t>, Lakera Gandalf</a:t>
            </a:r>
            <a:br>
              <a:rPr lang="en-IN" sz="1600" i="1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sz="1600" b="1" i="1" dirty="0">
                <a:solidFill>
                  <a:schemeClr val="bg1">
                    <a:lumMod val="95000"/>
                  </a:schemeClr>
                </a:solidFill>
              </a:rPr>
              <a:t>Integrity &amp; Standards:</a:t>
            </a:r>
            <a:r>
              <a:rPr lang="en-IN" sz="1600" i="1" dirty="0">
                <a:solidFill>
                  <a:schemeClr val="bg1">
                    <a:lumMod val="95000"/>
                  </a:schemeClr>
                </a:solidFill>
              </a:rPr>
              <a:t> DARPA TC Provenance, NIST CVE taxonomy, ECDSA P-256 cryptographic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2019</Words>
  <Application>Microsoft Office PowerPoint</Application>
  <PresentationFormat>Custom</PresentationFormat>
  <Paragraphs>158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Montserrat</vt:lpstr>
      <vt:lpstr>Calibri</vt:lpstr>
      <vt:lpstr>Caveat</vt:lpstr>
      <vt:lpstr>Arial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Akash Rawat</dc:creator>
  <cp:lastModifiedBy>Akash Rawat</cp:lastModifiedBy>
  <cp:revision>120</cp:revision>
  <dcterms:modified xsi:type="dcterms:W3CDTF">2026-10-10T17:28:30Z</dcterms:modified>
</cp:coreProperties>
</file>