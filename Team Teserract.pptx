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65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Caveat" panose="020B0604020202020204" charset="0"/>
      <p:regular r:id="rId11"/>
      <p:bold r:id="rId12"/>
    </p:embeddedFont>
    <p:embeddedFont>
      <p:font typeface="IBM Plex Sans" panose="020B0503050203000203" pitchFamily="34" charset="0"/>
      <p:regular r:id="rId13"/>
      <p:bold r:id="rId14"/>
      <p:italic r:id="rId15"/>
      <p:boldItalic r:id="rId16"/>
    </p:embeddedFont>
    <p:embeddedFont>
      <p:font typeface="Montserrat" panose="00000500000000000000" pitchFamily="2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70318"/>
    <a:srgbClr val="FFFAE6"/>
    <a:srgbClr val="FFFD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4660"/>
  </p:normalViewPr>
  <p:slideViewPr>
    <p:cSldViewPr snapToGrid="0">
      <p:cViewPr>
        <p:scale>
          <a:sx n="33" d="100"/>
          <a:sy n="33" d="100"/>
        </p:scale>
        <p:origin x="1978" y="9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E3A0A402-22B8-5AE6-4C6D-FD808D72D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A13474F9-D6AE-61D5-B2D6-53BEF92E51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6CE04455-62BC-110E-D00E-D6258A9611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642853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7" name="Google Shape;13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6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5" Type="http://schemas.openxmlformats.org/officeDocument/2006/relationships/image" Target="../media/image2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6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3"/>
          <p:cNvGrpSpPr/>
          <p:nvPr/>
        </p:nvGrpSpPr>
        <p:grpSpPr>
          <a:xfrm>
            <a:off x="-243564" y="3162129"/>
            <a:ext cx="19967028" cy="3712212"/>
            <a:chOff x="-324752" y="-1744261"/>
            <a:chExt cx="26622705" cy="4949614"/>
          </a:xfrm>
        </p:grpSpPr>
        <p:sp>
          <p:nvSpPr>
            <p:cNvPr id="85" name="Google Shape;85;p13"/>
            <p:cNvSpPr txBox="1"/>
            <p:nvPr/>
          </p:nvSpPr>
          <p:spPr>
            <a:xfrm>
              <a:off x="-324752" y="-1744261"/>
              <a:ext cx="24708753" cy="17393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55" b="1" i="0" u="none" strike="noStrike" cap="none" dirty="0">
                  <a:solidFill>
                    <a:schemeClr val="bg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TEAM TESERRACT</a:t>
              </a:r>
              <a:endParaRPr dirty="0">
                <a:solidFill>
                  <a:schemeClr val="bg1"/>
                </a:solidFill>
              </a:endParaRPr>
            </a:p>
          </p:txBody>
        </p:sp>
        <p:sp>
          <p:nvSpPr>
            <p:cNvPr id="86" name="Google Shape;86;p13"/>
            <p:cNvSpPr txBox="1"/>
            <p:nvPr/>
          </p:nvSpPr>
          <p:spPr>
            <a:xfrm>
              <a:off x="3733075" y="474350"/>
              <a:ext cx="22564878" cy="27310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R="0" lvl="0" rtl="0">
                <a:lnSpc>
                  <a:spcPct val="13998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169" b="1" dirty="0">
                  <a:solidFill>
                    <a:schemeClr val="bg1"/>
                  </a:solidFill>
                  <a:latin typeface="IBM Plex Sans"/>
                  <a:sym typeface="IBM Plex Sans"/>
                </a:rPr>
                <a:t>Akash Rawat – AI Evaluation and Defense</a:t>
              </a:r>
            </a:p>
            <a:p>
              <a:pPr marR="0" lvl="0" rtl="0">
                <a:lnSpc>
                  <a:spcPct val="13998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169" b="1" dirty="0">
                  <a:solidFill>
                    <a:schemeClr val="bg1"/>
                  </a:solidFill>
                  <a:latin typeface="IBM Plex Sans"/>
                  <a:sym typeface="IBM Plex Sans"/>
                </a:rPr>
                <a:t>Tejas </a:t>
              </a:r>
              <a:r>
                <a:rPr lang="en-US" sz="3169" b="1" dirty="0" err="1">
                  <a:solidFill>
                    <a:schemeClr val="bg1"/>
                  </a:solidFill>
                  <a:latin typeface="IBM Plex Sans"/>
                  <a:sym typeface="IBM Plex Sans"/>
                </a:rPr>
                <a:t>Chandane</a:t>
              </a:r>
              <a:r>
                <a:rPr lang="en-US" sz="3169" b="1" dirty="0">
                  <a:solidFill>
                    <a:schemeClr val="bg1"/>
                  </a:solidFill>
                  <a:latin typeface="IBM Plex Sans"/>
                  <a:sym typeface="IBM Plex Sans"/>
                </a:rPr>
                <a:t> – Cybersecurity, Containment and Prompt Injection</a:t>
              </a:r>
            </a:p>
            <a:p>
              <a:pPr marR="0" lvl="0" rtl="0">
                <a:lnSpc>
                  <a:spcPct val="13998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169" b="1" dirty="0">
                  <a:solidFill>
                    <a:schemeClr val="bg1"/>
                  </a:solidFill>
                  <a:latin typeface="IBM Plex Sans"/>
                  <a:sym typeface="IBM Plex Sans"/>
                </a:rPr>
                <a:t>Sarthak Bangar – Database and UI</a:t>
              </a:r>
              <a:endParaRPr dirty="0">
                <a:solidFill>
                  <a:schemeClr val="bg1"/>
                </a:solidFill>
              </a:endParaRPr>
            </a:p>
          </p:txBody>
        </p:sp>
      </p:grpSp>
      <p:pic>
        <p:nvPicPr>
          <p:cNvPr id="87" name="Google Shape;87;p13" title="download (2).jpg"/>
          <p:cNvPicPr preferRelativeResize="0"/>
          <p:nvPr/>
        </p:nvPicPr>
        <p:blipFill rotWithShape="1">
          <a:blip r:embed="rId3">
            <a:alphaModFix/>
          </a:blip>
          <a:srcRect l="38928" r="16455"/>
          <a:stretch/>
        </p:blipFill>
        <p:spPr>
          <a:xfrm rot="-5400000">
            <a:off x="7734336" y="-7722435"/>
            <a:ext cx="2865904" cy="18326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title="Group 4809783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8675" y="296224"/>
            <a:ext cx="7240346" cy="79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 title="Log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520575" y="296231"/>
            <a:ext cx="5599601" cy="79192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5E7B3EE-64F3-CF85-685F-D5A5AAAD0A94}"/>
              </a:ext>
            </a:extLst>
          </p:cNvPr>
          <p:cNvSpPr txBox="1"/>
          <p:nvPr/>
        </p:nvSpPr>
        <p:spPr>
          <a:xfrm>
            <a:off x="4680856" y="8046145"/>
            <a:ext cx="11742057" cy="10248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 </a:t>
            </a:r>
            <a:r>
              <a:rPr lang="en-US" sz="6060" b="1" dirty="0">
                <a:solidFill>
                  <a:schemeClr val="bg1"/>
                </a:solidFill>
                <a:latin typeface="Montserrat" panose="00000500000000000000" pitchFamily="2" charset="0"/>
              </a:rPr>
              <a:t>BAYORA</a:t>
            </a:r>
            <a:r>
              <a:rPr lang="en-US" sz="4000" b="1" dirty="0">
                <a:solidFill>
                  <a:schemeClr val="bg1"/>
                </a:solidFill>
              </a:rPr>
              <a:t>  </a:t>
            </a:r>
            <a:r>
              <a:rPr lang="en-US" sz="6060" b="1" dirty="0">
                <a:solidFill>
                  <a:schemeClr val="bg1"/>
                </a:solidFill>
                <a:latin typeface="Montserrat" panose="00000500000000000000" pitchFamily="2" charset="0"/>
              </a:rPr>
              <a:t>V.E.R.I.T.Y</a:t>
            </a:r>
            <a:endParaRPr lang="en-IN" sz="6060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AF8847-26DE-78A2-9431-CB4D5B2D020F}"/>
              </a:ext>
            </a:extLst>
          </p:cNvPr>
          <p:cNvSpPr txBox="1"/>
          <p:nvPr/>
        </p:nvSpPr>
        <p:spPr>
          <a:xfrm>
            <a:off x="7394972" y="7317013"/>
            <a:ext cx="301236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Montserrat" panose="00000500000000000000" pitchFamily="2" charset="0"/>
              </a:rPr>
              <a:t>PRESENTS</a:t>
            </a:r>
            <a:endParaRPr lang="en-IN" sz="4000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DA7755-FCA3-B078-94A7-90C55CEED953}"/>
              </a:ext>
            </a:extLst>
          </p:cNvPr>
          <p:cNvSpPr txBox="1"/>
          <p:nvPr/>
        </p:nvSpPr>
        <p:spPr>
          <a:xfrm>
            <a:off x="5437962" y="9107974"/>
            <a:ext cx="6609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i="1" dirty="0">
                <a:solidFill>
                  <a:schemeClr val="bg1"/>
                </a:solidFill>
              </a:rPr>
              <a:t>‘Validation of Evidence, Results, Isolation, Trust, and Yield’</a:t>
            </a:r>
            <a:endParaRPr lang="en-IN" sz="1800" b="1" i="1" dirty="0">
              <a:solidFill>
                <a:schemeClr val="bg1"/>
              </a:solidFill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60F250A-53C3-2FCD-6FC0-397321A0AF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20575" y="7385738"/>
            <a:ext cx="24384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9A60A677-BB99-C9B5-45C3-8DBF21740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>
            <a:extLst>
              <a:ext uri="{FF2B5EF4-FFF2-40B4-BE49-F238E27FC236}">
                <a16:creationId xmlns:a16="http://schemas.microsoft.com/office/drawing/2014/main" id="{2F03195E-C6DD-682B-CF2F-130370236B45}"/>
              </a:ext>
            </a:extLst>
          </p:cNvPr>
          <p:cNvSpPr txBox="1"/>
          <p:nvPr/>
        </p:nvSpPr>
        <p:spPr>
          <a:xfrm>
            <a:off x="555625" y="1809065"/>
            <a:ext cx="151161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 Problem Statement - Securing Adversarial AI Safety Testing Infrastructure - </a:t>
            </a:r>
            <a:r>
              <a:rPr lang="en-IN" sz="2400" b="1" dirty="0" err="1">
                <a:solidFill>
                  <a:schemeClr val="bg1"/>
                </a:solidFill>
              </a:rPr>
              <a:t>Bayora</a:t>
            </a:r>
            <a:endParaRPr lang="en-IN" sz="2400" b="1" dirty="0">
              <a:solidFill>
                <a:schemeClr val="bg1"/>
              </a:solidFill>
            </a:endParaRPr>
          </a:p>
        </p:txBody>
      </p:sp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5872318D-08DF-4AA3-BC54-74410653FAA8}"/>
              </a:ext>
            </a:extLst>
          </p:cNvPr>
          <p:cNvSpPr txBox="1"/>
          <p:nvPr/>
        </p:nvSpPr>
        <p:spPr>
          <a:xfrm>
            <a:off x="1819843" y="2656532"/>
            <a:ext cx="10521525" cy="514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784" b="1" i="0" u="none" strike="noStrike" cap="none" dirty="0">
              <a:solidFill>
                <a:schemeClr val="bg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98" name="Google Shape;98;p14" title="pptnlogo.png">
            <a:extLst>
              <a:ext uri="{FF2B5EF4-FFF2-40B4-BE49-F238E27FC236}">
                <a16:creationId xmlns:a16="http://schemas.microsoft.com/office/drawing/2014/main" id="{958A8042-411A-437F-AA84-0A565C2C248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C18E7F6-46CB-0D28-78D5-E06E83F58312}"/>
              </a:ext>
            </a:extLst>
          </p:cNvPr>
          <p:cNvSpPr txBox="1"/>
          <p:nvPr/>
        </p:nvSpPr>
        <p:spPr>
          <a:xfrm>
            <a:off x="555625" y="2256901"/>
            <a:ext cx="1209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Theme - </a:t>
            </a:r>
            <a:r>
              <a:rPr lang="en-IN" sz="2400" b="1" dirty="0">
                <a:solidFill>
                  <a:schemeClr val="bg1"/>
                </a:solidFill>
              </a:rPr>
              <a:t>"Evaluation Integrity" for AI Safety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6A38DD-0E7F-DC2F-81A8-754AE2524964}"/>
              </a:ext>
            </a:extLst>
          </p:cNvPr>
          <p:cNvSpPr txBox="1"/>
          <p:nvPr/>
        </p:nvSpPr>
        <p:spPr>
          <a:xfrm>
            <a:off x="259262" y="4164839"/>
            <a:ext cx="527528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1">
                    <a:lumMod val="85000"/>
                  </a:schemeClr>
                </a:solidFill>
              </a:rPr>
              <a:t>1. Silent Crashes Counted as "Safe"</a:t>
            </a:r>
          </a:p>
          <a:p>
            <a:r>
              <a:rPr lang="en-IN" sz="1600" dirty="0">
                <a:solidFill>
                  <a:schemeClr val="bg1">
                    <a:lumMod val="85000"/>
                  </a:schemeClr>
                </a:solidFill>
              </a:rPr>
              <a:t>When testing AI safety, standard runners only look at text outputs. If an evaluation server runs out of memory or a safety filter times out, the system mistakenly records a </a:t>
            </a:r>
            <a:r>
              <a:rPr lang="en-IN" sz="1600" b="1" dirty="0">
                <a:solidFill>
                  <a:schemeClr val="bg1">
                    <a:lumMod val="85000"/>
                  </a:schemeClr>
                </a:solidFill>
              </a:rPr>
              <a:t>100% false pass rate</a:t>
            </a:r>
            <a:br>
              <a:rPr lang="en-IN" sz="1600" dirty="0">
                <a:solidFill>
                  <a:schemeClr val="bg1">
                    <a:lumMod val="85000"/>
                  </a:schemeClr>
                </a:solidFill>
              </a:rPr>
            </a:br>
            <a:endParaRPr lang="en-IN" sz="16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IN" sz="1600" b="1" dirty="0">
                <a:solidFill>
                  <a:schemeClr val="bg1">
                    <a:lumMod val="85000"/>
                  </a:schemeClr>
                </a:solidFill>
              </a:rPr>
              <a:t>2. Artificially Inflated Benchmark Scores</a:t>
            </a:r>
          </a:p>
          <a:p>
            <a:r>
              <a:rPr lang="en-IN" sz="1600" dirty="0">
                <a:solidFill>
                  <a:schemeClr val="bg1">
                    <a:lumMod val="85000"/>
                  </a:schemeClr>
                </a:solidFill>
              </a:rPr>
              <a:t>Over </a:t>
            </a:r>
            <a:r>
              <a:rPr lang="en-IN" sz="1600" b="1" dirty="0">
                <a:solidFill>
                  <a:schemeClr val="bg1">
                    <a:lumMod val="85000"/>
                  </a:schemeClr>
                </a:solidFill>
              </a:rPr>
              <a:t>30% of major AI benchmark datasets</a:t>
            </a:r>
            <a:r>
              <a:rPr lang="en-IN" sz="1600" dirty="0">
                <a:solidFill>
                  <a:schemeClr val="bg1">
                    <a:lumMod val="85000"/>
                  </a:schemeClr>
                </a:solidFill>
              </a:rPr>
              <a:t> suffer from test-data leakage. Models recall prior answers and score up to </a:t>
            </a:r>
            <a:r>
              <a:rPr lang="en-IN" sz="1600" b="1" dirty="0">
                <a:solidFill>
                  <a:schemeClr val="bg1">
                    <a:lumMod val="85000"/>
                  </a:schemeClr>
                </a:solidFill>
              </a:rPr>
              <a:t>40% higher</a:t>
            </a:r>
            <a:r>
              <a:rPr lang="en-IN" sz="1600" dirty="0">
                <a:solidFill>
                  <a:schemeClr val="bg1">
                    <a:lumMod val="85000"/>
                  </a:schemeClr>
                </a:solidFill>
              </a:rPr>
              <a:t> than their true capability.</a:t>
            </a:r>
          </a:p>
          <a:p>
            <a:endParaRPr lang="en-IN" sz="16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IN" sz="1600" b="1" dirty="0">
                <a:solidFill>
                  <a:schemeClr val="bg1">
                    <a:lumMod val="85000"/>
                  </a:schemeClr>
                </a:solidFill>
              </a:rPr>
              <a:t>3. Unverifiable, </a:t>
            </a:r>
            <a:r>
              <a:rPr lang="en-IN" sz="1600" b="1" dirty="0" err="1">
                <a:solidFill>
                  <a:schemeClr val="bg1">
                    <a:lumMod val="85000"/>
                  </a:schemeClr>
                </a:solidFill>
              </a:rPr>
              <a:t>Tamperable</a:t>
            </a:r>
            <a:r>
              <a:rPr lang="en-IN" sz="1600" b="1" dirty="0">
                <a:solidFill>
                  <a:schemeClr val="bg1">
                    <a:lumMod val="85000"/>
                  </a:schemeClr>
                </a:solidFill>
              </a:rPr>
              <a:t> Audit Logs</a:t>
            </a:r>
          </a:p>
          <a:p>
            <a:r>
              <a:rPr lang="en-IN" sz="1600" dirty="0">
                <a:solidFill>
                  <a:schemeClr val="bg1">
                    <a:lumMod val="85000"/>
                  </a:schemeClr>
                </a:solidFill>
              </a:rPr>
              <a:t>Companies store safety reports in plain text files. There is </a:t>
            </a:r>
            <a:r>
              <a:rPr lang="en-IN" sz="1600" b="1" dirty="0">
                <a:solidFill>
                  <a:schemeClr val="bg1">
                    <a:lumMod val="85000"/>
                  </a:schemeClr>
                </a:solidFill>
              </a:rPr>
              <a:t>zero cryptographic proof</a:t>
            </a:r>
            <a:r>
              <a:rPr lang="en-IN" sz="1600" dirty="0">
                <a:solidFill>
                  <a:schemeClr val="bg1">
                    <a:lumMod val="85000"/>
                  </a:schemeClr>
                </a:solidFill>
              </a:rPr>
              <a:t> that logs were not altered</a:t>
            </a:r>
          </a:p>
          <a:p>
            <a:endParaRPr lang="en-IN" sz="16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IN" sz="1600" b="1" dirty="0">
                <a:solidFill>
                  <a:schemeClr val="bg1">
                    <a:lumMod val="85000"/>
                  </a:schemeClr>
                </a:solidFill>
              </a:rPr>
              <a:t>4. "</a:t>
            </a:r>
            <a:r>
              <a:rPr lang="en-IN" sz="1600" b="1" dirty="0" err="1">
                <a:solidFill>
                  <a:schemeClr val="bg1">
                    <a:lumMod val="85000"/>
                  </a:schemeClr>
                </a:solidFill>
              </a:rPr>
              <a:t>Dieselgate</a:t>
            </a:r>
            <a:r>
              <a:rPr lang="en-IN" sz="1600" b="1" dirty="0">
                <a:solidFill>
                  <a:schemeClr val="bg1">
                    <a:lumMod val="85000"/>
                  </a:schemeClr>
                </a:solidFill>
              </a:rPr>
              <a:t>" Scandal (Volkswagen 2015)</a:t>
            </a:r>
          </a:p>
          <a:p>
            <a:r>
              <a:rPr lang="en-IN" sz="1600" dirty="0">
                <a:solidFill>
                  <a:schemeClr val="bg1">
                    <a:lumMod val="85000"/>
                  </a:schemeClr>
                </a:solidFill>
              </a:rPr>
              <a:t>When test conditions leak, AI models adapt their responses just like emissions software did during the </a:t>
            </a:r>
            <a:r>
              <a:rPr lang="en-IN" sz="1600" b="1" dirty="0">
                <a:solidFill>
                  <a:schemeClr val="bg1">
                    <a:lumMod val="85000"/>
                  </a:schemeClr>
                </a:solidFill>
              </a:rPr>
              <a:t>Volkswagen "</a:t>
            </a:r>
            <a:r>
              <a:rPr lang="en-IN" sz="1600" b="1" dirty="0" err="1">
                <a:solidFill>
                  <a:schemeClr val="bg1">
                    <a:lumMod val="85000"/>
                  </a:schemeClr>
                </a:solidFill>
              </a:rPr>
              <a:t>Dieselgate</a:t>
            </a:r>
            <a:r>
              <a:rPr lang="en-IN" sz="1600" b="1" dirty="0">
                <a:solidFill>
                  <a:schemeClr val="bg1">
                    <a:lumMod val="85000"/>
                  </a:schemeClr>
                </a:solidFill>
              </a:rPr>
              <a:t>" scandal</a:t>
            </a:r>
            <a:r>
              <a:rPr lang="en-IN" sz="1600" dirty="0">
                <a:solidFill>
                  <a:schemeClr val="bg1">
                    <a:lumMod val="85000"/>
                  </a:schemeClr>
                </a:solidFill>
              </a:rPr>
              <a:t>, which resulted in over </a:t>
            </a:r>
            <a:r>
              <a:rPr lang="en-IN" sz="1600" b="1" dirty="0">
                <a:solidFill>
                  <a:schemeClr val="bg1">
                    <a:lumMod val="85000"/>
                  </a:schemeClr>
                </a:solidFill>
              </a:rPr>
              <a:t>$35 billion in fines and settlements</a:t>
            </a:r>
            <a:endParaRPr lang="en-IN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651555-622F-9724-1312-9B1DE0E51C0B}"/>
              </a:ext>
            </a:extLst>
          </p:cNvPr>
          <p:cNvSpPr txBox="1"/>
          <p:nvPr/>
        </p:nvSpPr>
        <p:spPr>
          <a:xfrm>
            <a:off x="1287692" y="3564109"/>
            <a:ext cx="181812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Montserrat" panose="00000500000000000000" pitchFamily="2" charset="0"/>
                <a:ea typeface="IBM Plex Sans"/>
                <a:cs typeface="IBM Plex Sans"/>
                <a:sym typeface="IBM Plex Sans"/>
              </a:rPr>
              <a:t>PROBLEM</a:t>
            </a:r>
            <a:endParaRPr lang="en-US" sz="2400" b="1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endParaRPr lang="en-IN" sz="2400" b="1" dirty="0">
              <a:latin typeface="Montserrat" panose="000005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991E16-B19E-3511-2FDF-E1B24736EDE7}"/>
              </a:ext>
            </a:extLst>
          </p:cNvPr>
          <p:cNvSpPr txBox="1"/>
          <p:nvPr/>
        </p:nvSpPr>
        <p:spPr>
          <a:xfrm>
            <a:off x="13927365" y="3660443"/>
            <a:ext cx="16677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00580" lvl="1">
              <a:buClr>
                <a:srgbClr val="1D1D1F"/>
              </a:buClr>
              <a:buSzPts val="2784"/>
            </a:pPr>
            <a:r>
              <a:rPr lang="en-US" sz="2400" b="1" dirty="0">
                <a:solidFill>
                  <a:schemeClr val="bg1"/>
                </a:solidFill>
                <a:latin typeface="+mj-lt"/>
                <a:sym typeface="IBM Plex Sans"/>
              </a:rPr>
              <a:t>IMPACT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897DEE-AA81-70A2-E899-AAFCC1F977CF}"/>
              </a:ext>
            </a:extLst>
          </p:cNvPr>
          <p:cNvSpPr txBox="1"/>
          <p:nvPr/>
        </p:nvSpPr>
        <p:spPr>
          <a:xfrm>
            <a:off x="8503920" y="4232366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8BEA60-2442-BF4D-75B1-0350853CC3A2}"/>
              </a:ext>
            </a:extLst>
          </p:cNvPr>
          <p:cNvSpPr txBox="1"/>
          <p:nvPr/>
        </p:nvSpPr>
        <p:spPr>
          <a:xfrm>
            <a:off x="3618411" y="9379131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F03445-660C-1A79-CA9A-E90FF1662CB9}"/>
              </a:ext>
            </a:extLst>
          </p:cNvPr>
          <p:cNvSpPr txBox="1"/>
          <p:nvPr/>
        </p:nvSpPr>
        <p:spPr>
          <a:xfrm>
            <a:off x="12033988" y="4164839"/>
            <a:ext cx="5963739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1600" b="1" dirty="0">
                <a:solidFill>
                  <a:schemeClr val="bg1">
                    <a:lumMod val="85000"/>
                  </a:schemeClr>
                </a:solidFill>
              </a:rPr>
              <a:t>1. Eliminates False Passes with 4-State Health Checks</a:t>
            </a:r>
            <a:r>
              <a:rPr lang="en-IN" sz="1600" dirty="0">
                <a:solidFill>
                  <a:schemeClr val="bg1">
                    <a:lumMod val="85000"/>
                  </a:schemeClr>
                </a:solidFill>
              </a:rPr>
              <a:t> </a:t>
            </a:r>
          </a:p>
          <a:p>
            <a:pPr lvl="0"/>
            <a:r>
              <a:rPr lang="en-IN" sz="1600" dirty="0">
                <a:solidFill>
                  <a:schemeClr val="bg1">
                    <a:lumMod val="85000"/>
                  </a:schemeClr>
                </a:solidFill>
              </a:rPr>
              <a:t>Replaces blind scores with continuous environment monitoring. If a server freezes or filters crash, the test is immediately rejected instead of falsely passing.</a:t>
            </a:r>
          </a:p>
          <a:p>
            <a:pPr lvl="0"/>
            <a:endParaRPr lang="en-IN" sz="1600" dirty="0">
              <a:solidFill>
                <a:schemeClr val="bg1">
                  <a:lumMod val="85000"/>
                </a:schemeClr>
              </a:solidFill>
            </a:endParaRPr>
          </a:p>
          <a:p>
            <a:pPr lvl="0"/>
            <a:r>
              <a:rPr lang="en-IN" sz="1600" b="1" dirty="0">
                <a:solidFill>
                  <a:schemeClr val="bg1">
                    <a:lumMod val="85000"/>
                  </a:schemeClr>
                </a:solidFill>
              </a:rPr>
              <a:t>2. Stops Memory Leaks with Canary Tokens</a:t>
            </a:r>
          </a:p>
          <a:p>
            <a:pPr lvl="0"/>
            <a:r>
              <a:rPr lang="en-IN" sz="1600" dirty="0">
                <a:solidFill>
                  <a:schemeClr val="bg1">
                    <a:lumMod val="85000"/>
                  </a:schemeClr>
                </a:solidFill>
              </a:rPr>
              <a:t>Injects unique synthetic marker tokens to instantly detect if an AI model is "remembering" answers across test runs, ensuring benchmark scores reflect genuine safety rather than cached data.</a:t>
            </a:r>
          </a:p>
          <a:p>
            <a:pPr lvl="0"/>
            <a:endParaRPr lang="en-IN" sz="1600" dirty="0">
              <a:solidFill>
                <a:schemeClr val="bg1">
                  <a:lumMod val="85000"/>
                </a:schemeClr>
              </a:solidFill>
            </a:endParaRPr>
          </a:p>
          <a:p>
            <a:pPr lvl="0"/>
            <a:r>
              <a:rPr lang="en-IN" sz="1600" b="1" dirty="0">
                <a:solidFill>
                  <a:schemeClr val="bg1">
                    <a:lumMod val="85000"/>
                  </a:schemeClr>
                </a:solidFill>
              </a:rPr>
              <a:t>3. Mathematically Tamper-Proof Audits</a:t>
            </a:r>
          </a:p>
          <a:p>
            <a:pPr lvl="0"/>
            <a:r>
              <a:rPr lang="en-IN" sz="1600" dirty="0">
                <a:solidFill>
                  <a:schemeClr val="bg1">
                    <a:lumMod val="85000"/>
                  </a:schemeClr>
                </a:solidFill>
              </a:rPr>
              <a:t>Hashes every test event into an unbroken SHA-256 chain sealed with Ed25519 digital signatures. Any attempt to modify, delete, or rewrite failed test results breaks the cryptographic verification instantly.</a:t>
            </a:r>
          </a:p>
          <a:p>
            <a:pPr lvl="0"/>
            <a:endParaRPr lang="en-IN" sz="1600" dirty="0">
              <a:solidFill>
                <a:schemeClr val="bg1">
                  <a:lumMod val="85000"/>
                </a:schemeClr>
              </a:solidFill>
            </a:endParaRPr>
          </a:p>
          <a:p>
            <a:pPr lvl="0"/>
            <a:r>
              <a:rPr lang="en-IN" sz="1600" b="1" dirty="0">
                <a:solidFill>
                  <a:schemeClr val="bg1">
                    <a:lumMod val="85000"/>
                  </a:schemeClr>
                </a:solidFill>
              </a:rPr>
              <a:t>4. Replaces Blind Trust with Instant 1-Click Verification</a:t>
            </a:r>
          </a:p>
          <a:p>
            <a:pPr lvl="0"/>
            <a:r>
              <a:rPr lang="en-IN" sz="1600" dirty="0">
                <a:solidFill>
                  <a:schemeClr val="bg1">
                    <a:lumMod val="85000"/>
                  </a:schemeClr>
                </a:solidFill>
              </a:rPr>
              <a:t>Attack prompts remain locked in secure private vaults until tests pass clean.</a:t>
            </a:r>
          </a:p>
          <a:p>
            <a:endParaRPr lang="en-IN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878FA3-59C1-4636-6B5B-E2BD55F32C98}"/>
              </a:ext>
            </a:extLst>
          </p:cNvPr>
          <p:cNvSpPr txBox="1"/>
          <p:nvPr/>
        </p:nvSpPr>
        <p:spPr>
          <a:xfrm>
            <a:off x="6753931" y="3239841"/>
            <a:ext cx="31758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THEME ALIGNMENT</a:t>
            </a:r>
            <a:endParaRPr lang="en-IN" sz="2400" b="1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FE0E66-CD33-F7D2-6336-66F73C6A5086}"/>
              </a:ext>
            </a:extLst>
          </p:cNvPr>
          <p:cNvSpPr txBox="1"/>
          <p:nvPr/>
        </p:nvSpPr>
        <p:spPr>
          <a:xfrm>
            <a:off x="6296444" y="3979607"/>
            <a:ext cx="4839998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solidFill>
                  <a:schemeClr val="bg1">
                    <a:lumMod val="85000"/>
                  </a:schemeClr>
                </a:solidFill>
              </a:rPr>
              <a:t>1. Our solution directly aligns with the AI Safety and Trust theme by solving the </a:t>
            </a:r>
            <a:r>
              <a:rPr lang="en-IN" sz="1800" b="1" dirty="0">
                <a:solidFill>
                  <a:schemeClr val="bg1">
                    <a:lumMod val="85000"/>
                  </a:schemeClr>
                </a:solidFill>
              </a:rPr>
              <a:t>Who Evaluates the Evaluator?</a:t>
            </a:r>
            <a:r>
              <a:rPr lang="en-IN" sz="1800" dirty="0">
                <a:solidFill>
                  <a:schemeClr val="bg1">
                    <a:lumMod val="85000"/>
                  </a:schemeClr>
                </a:solidFill>
              </a:rPr>
              <a:t> dilemma. </a:t>
            </a:r>
          </a:p>
          <a:p>
            <a:endParaRPr lang="en-IN" sz="18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IN" sz="1800" dirty="0">
                <a:solidFill>
                  <a:schemeClr val="bg1">
                    <a:lumMod val="85000"/>
                  </a:schemeClr>
                </a:solidFill>
              </a:rPr>
              <a:t>2. Instead of blindly trusting self-reported model scores, BAYORA transforms AI evaluations from an unverified </a:t>
            </a:r>
            <a:r>
              <a:rPr lang="en-IN" sz="1800" dirty="0" err="1">
                <a:solidFill>
                  <a:schemeClr val="bg1">
                    <a:lumMod val="85000"/>
                  </a:schemeClr>
                </a:solidFill>
              </a:rPr>
              <a:t>honor</a:t>
            </a:r>
            <a:r>
              <a:rPr lang="en-IN" sz="1800" dirty="0">
                <a:solidFill>
                  <a:schemeClr val="bg1">
                    <a:lumMod val="85000"/>
                  </a:schemeClr>
                </a:solidFill>
              </a:rPr>
              <a:t> system into a mathematically verifiable pipeline using cryptographic hash chains and container isolation.</a:t>
            </a:r>
          </a:p>
          <a:p>
            <a:endParaRPr lang="en-IN" sz="18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IN" sz="1800" dirty="0">
                <a:solidFill>
                  <a:schemeClr val="bg1">
                    <a:lumMod val="85000"/>
                  </a:schemeClr>
                </a:solidFill>
              </a:rPr>
              <a:t>3. This guarantees that safety tests are conducted in clean, leak-free environments,  with tamper-proof evidence that complies with the EU AI Act and NIST AI Risk Management Framework.</a:t>
            </a:r>
          </a:p>
          <a:p>
            <a:endParaRPr lang="en-IN" sz="18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IN" sz="1800" dirty="0">
                <a:solidFill>
                  <a:schemeClr val="bg1">
                    <a:lumMod val="85000"/>
                  </a:schemeClr>
                </a:solidFill>
              </a:rPr>
              <a:t>4.</a:t>
            </a:r>
            <a:r>
              <a:rPr lang="en-IN" sz="1800" dirty="0"/>
              <a:t> </a:t>
            </a:r>
            <a:r>
              <a:rPr lang="en-IN" sz="1800" dirty="0">
                <a:solidFill>
                  <a:schemeClr val="bg1">
                    <a:lumMod val="95000"/>
                  </a:schemeClr>
                </a:solidFill>
              </a:rPr>
              <a:t>Evaluates LLMs against benchmark datasets (</a:t>
            </a:r>
            <a:r>
              <a:rPr lang="en-IN" sz="1800" b="1" dirty="0" err="1">
                <a:solidFill>
                  <a:schemeClr val="bg1">
                    <a:lumMod val="95000"/>
                  </a:schemeClr>
                </a:solidFill>
              </a:rPr>
              <a:t>AdvBench</a:t>
            </a:r>
            <a:r>
              <a:rPr lang="en-IN" sz="1800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en-IN" sz="1800" b="1" dirty="0" err="1">
                <a:solidFill>
                  <a:schemeClr val="bg1">
                    <a:lumMod val="95000"/>
                  </a:schemeClr>
                </a:solidFill>
              </a:rPr>
              <a:t>JailbreakBench</a:t>
            </a:r>
            <a:r>
              <a:rPr lang="en-IN" sz="1800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en-IN" sz="1800" b="1" dirty="0" err="1">
                <a:solidFill>
                  <a:schemeClr val="bg1">
                    <a:lumMod val="95000"/>
                  </a:schemeClr>
                </a:solidFill>
              </a:rPr>
              <a:t>HarmBench</a:t>
            </a:r>
            <a:r>
              <a:rPr lang="en-IN" sz="1800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en-IN" sz="1800" b="1" dirty="0">
                <a:solidFill>
                  <a:schemeClr val="bg1">
                    <a:lumMod val="95000"/>
                  </a:schemeClr>
                </a:solidFill>
              </a:rPr>
              <a:t>Lakera Gandalf</a:t>
            </a:r>
            <a:r>
              <a:rPr lang="en-IN" sz="1800" dirty="0">
                <a:solidFill>
                  <a:schemeClr val="bg1">
                    <a:lumMod val="95000"/>
                  </a:schemeClr>
                </a:solidFill>
              </a:rPr>
              <a:t>) without leaking state across red-blue boundaries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FFEC8970-B36A-C977-23AB-ABE093ACF8E3}"/>
              </a:ext>
            </a:extLst>
          </p:cNvPr>
          <p:cNvSpPr/>
          <p:nvPr/>
        </p:nvSpPr>
        <p:spPr>
          <a:xfrm>
            <a:off x="5398898" y="6248396"/>
            <a:ext cx="711200" cy="254000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4B0894D7-E35D-423D-EEFE-B61186D387FC}"/>
              </a:ext>
            </a:extLst>
          </p:cNvPr>
          <p:cNvSpPr/>
          <p:nvPr/>
        </p:nvSpPr>
        <p:spPr>
          <a:xfrm rot="10800000">
            <a:off x="11221147" y="6362699"/>
            <a:ext cx="711200" cy="254000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42D56C6-40C4-4557-9665-FC59743F3C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9873" y="3200165"/>
            <a:ext cx="1025185" cy="102518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D55367B-CBA5-3647-F2E9-BEA7AD2E0B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3097" y="2769928"/>
            <a:ext cx="1357640" cy="135764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FC236D5-2430-52CA-627B-86547F8486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67955" y="2862338"/>
            <a:ext cx="1403542" cy="1403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124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4;p15"/>
          <p:cNvGrpSpPr/>
          <p:nvPr/>
        </p:nvGrpSpPr>
        <p:grpSpPr>
          <a:xfrm>
            <a:off x="1452328" y="2029197"/>
            <a:ext cx="11438558" cy="1564786"/>
            <a:chOff x="0" y="0"/>
            <a:chExt cx="15251410" cy="2086381"/>
          </a:xfrm>
        </p:grpSpPr>
        <p:sp>
          <p:nvSpPr>
            <p:cNvPr id="105" name="Google Shape;105;p15"/>
            <p:cNvSpPr txBox="1"/>
            <p:nvPr/>
          </p:nvSpPr>
          <p:spPr>
            <a:xfrm>
              <a:off x="0" y="0"/>
              <a:ext cx="14028699" cy="6854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784" b="0" i="0" u="none" strike="noStrike" cap="none" dirty="0">
                <a:solidFill>
                  <a:schemeClr val="bg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06" name="Google Shape;106;p15"/>
            <p:cNvSpPr txBox="1"/>
            <p:nvPr/>
          </p:nvSpPr>
          <p:spPr>
            <a:xfrm>
              <a:off x="1222711" y="1399440"/>
              <a:ext cx="14028699" cy="6869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85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07" name="Google Shape;107;p15" title="pptn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44AFE89-4D24-F87A-E4F8-4AFA67B8A3F0}"/>
              </a:ext>
            </a:extLst>
          </p:cNvPr>
          <p:cNvSpPr txBox="1"/>
          <p:nvPr/>
        </p:nvSpPr>
        <p:spPr>
          <a:xfrm>
            <a:off x="128140" y="2219805"/>
            <a:ext cx="61710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1800" b="1" dirty="0" err="1">
                <a:solidFill>
                  <a:schemeClr val="bg1">
                    <a:lumMod val="85000"/>
                  </a:schemeClr>
                </a:solidFill>
              </a:rPr>
              <a:t>Bayora</a:t>
            </a:r>
            <a:r>
              <a:rPr lang="en-IN" sz="1800" b="1" dirty="0">
                <a:solidFill>
                  <a:schemeClr val="bg1">
                    <a:lumMod val="85000"/>
                  </a:schemeClr>
                </a:solidFill>
              </a:rPr>
              <a:t> V.E.R.I.T.Y</a:t>
            </a:r>
            <a:r>
              <a:rPr lang="en-IN" sz="1800" dirty="0">
                <a:solidFill>
                  <a:schemeClr val="bg1">
                    <a:lumMod val="85000"/>
                  </a:schemeClr>
                </a:solidFill>
              </a:rPr>
              <a:t> is an automated, tamper-proof referee for AI safety evaluations. Instead of blindly trusting self-reported model scores, it continuously audits the testing environment to prove that safety evaluations were executed legitimately without crashes, context contamination, or result tampering.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743AE9-D040-FF81-AFE8-6BCDB3151BD2}"/>
              </a:ext>
            </a:extLst>
          </p:cNvPr>
          <p:cNvSpPr txBox="1"/>
          <p:nvPr/>
        </p:nvSpPr>
        <p:spPr>
          <a:xfrm>
            <a:off x="189955" y="4697933"/>
            <a:ext cx="26148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Montserrat" panose="00000500000000000000" pitchFamily="2" charset="0"/>
              </a:rPr>
              <a:t>KEY FEATURES</a:t>
            </a:r>
            <a:endParaRPr lang="en-IN" sz="2400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9A02DA-D5E5-A545-7B5C-41838BF05DD4}"/>
              </a:ext>
            </a:extLst>
          </p:cNvPr>
          <p:cNvSpPr txBox="1"/>
          <p:nvPr/>
        </p:nvSpPr>
        <p:spPr>
          <a:xfrm>
            <a:off x="144919" y="5494587"/>
            <a:ext cx="6171061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Clr>
                <a:schemeClr val="bg1"/>
              </a:buClr>
              <a:buFont typeface="+mj-lt"/>
              <a:buAutoNum type="arabicPeriod"/>
            </a:pPr>
            <a:r>
              <a:rPr lang="en-IN" sz="1600" b="1" dirty="0">
                <a:solidFill>
                  <a:schemeClr val="bg1">
                    <a:lumMod val="85000"/>
                  </a:schemeClr>
                </a:solidFill>
              </a:rPr>
              <a:t>Separate Workspaces (Three Locked Rooms)</a:t>
            </a:r>
            <a:br>
              <a:rPr lang="en-IN" sz="16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en-IN" sz="1600" dirty="0">
                <a:solidFill>
                  <a:schemeClr val="bg1">
                    <a:lumMod val="85000"/>
                  </a:schemeClr>
                </a:solidFill>
              </a:rPr>
              <a:t>Keeps the Attacker, Defender, and AI Model in completely isolated rooms so they cannot peek into each other's code or memory.</a:t>
            </a:r>
          </a:p>
          <a:p>
            <a:pPr marL="342900" lvl="0" indent="-342900">
              <a:buClr>
                <a:schemeClr val="bg1"/>
              </a:buClr>
              <a:buFont typeface="+mj-lt"/>
              <a:buAutoNum type="arabicPeriod"/>
            </a:pPr>
            <a:endParaRPr lang="en-IN" sz="1600" dirty="0">
              <a:solidFill>
                <a:schemeClr val="bg1">
                  <a:lumMod val="85000"/>
                </a:schemeClr>
              </a:solidFill>
            </a:endParaRPr>
          </a:p>
          <a:p>
            <a:pPr marL="342900" lvl="0" indent="-342900">
              <a:buClr>
                <a:schemeClr val="bg1"/>
              </a:buClr>
              <a:buFont typeface="+mj-lt"/>
              <a:buAutoNum type="arabicPeriod"/>
            </a:pPr>
            <a:r>
              <a:rPr lang="en-IN" sz="1600" b="1" dirty="0">
                <a:solidFill>
                  <a:schemeClr val="bg1">
                    <a:lumMod val="85000"/>
                  </a:schemeClr>
                </a:solidFill>
              </a:rPr>
              <a:t>Strict Traffic Controller (Smart Referee)</a:t>
            </a:r>
            <a:br>
              <a:rPr lang="en-IN" sz="16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en-IN" sz="1600" dirty="0">
                <a:solidFill>
                  <a:schemeClr val="bg1">
                    <a:lumMod val="85000"/>
                  </a:schemeClr>
                </a:solidFill>
              </a:rPr>
              <a:t>Acts as a digital referee that checks and filters every single message sent between parties, blocking unauthorized access.</a:t>
            </a:r>
          </a:p>
          <a:p>
            <a:pPr marL="342900" lvl="0" indent="-342900">
              <a:buClr>
                <a:schemeClr val="bg1"/>
              </a:buClr>
              <a:buFont typeface="+mj-lt"/>
              <a:buAutoNum type="arabicPeriod"/>
            </a:pPr>
            <a:endParaRPr lang="en-IN" sz="1600" dirty="0">
              <a:solidFill>
                <a:schemeClr val="bg1">
                  <a:lumMod val="85000"/>
                </a:schemeClr>
              </a:solidFill>
            </a:endParaRPr>
          </a:p>
          <a:p>
            <a:pPr marL="342900" lvl="0" indent="-342900">
              <a:buClr>
                <a:schemeClr val="bg1"/>
              </a:buClr>
              <a:buFont typeface="+mj-lt"/>
              <a:buAutoNum type="arabicPeriod"/>
            </a:pPr>
            <a:r>
              <a:rPr lang="en-IN" sz="1600" b="1" dirty="0">
                <a:solidFill>
                  <a:schemeClr val="bg1">
                    <a:lumMod val="85000"/>
                  </a:schemeClr>
                </a:solidFill>
              </a:rPr>
              <a:t>Complete Run Blackbox (Tamper-Proof Audit)</a:t>
            </a:r>
            <a:br>
              <a:rPr lang="en-IN" sz="16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en-IN" sz="1600" dirty="0">
                <a:solidFill>
                  <a:schemeClr val="bg1">
                    <a:lumMod val="85000"/>
                  </a:schemeClr>
                </a:solidFill>
              </a:rPr>
              <a:t>Records every action, test event, and setting into a sealed record book so anyone can verify exactly what happened.</a:t>
            </a:r>
          </a:p>
          <a:p>
            <a:pPr marL="342900" lvl="0" indent="-342900">
              <a:buClr>
                <a:schemeClr val="bg1"/>
              </a:buClr>
              <a:buFont typeface="+mj-lt"/>
              <a:buAutoNum type="arabicPeriod"/>
            </a:pPr>
            <a:endParaRPr lang="en-IN" sz="1600" dirty="0">
              <a:solidFill>
                <a:schemeClr val="bg1">
                  <a:lumMod val="85000"/>
                </a:schemeClr>
              </a:solidFill>
            </a:endParaRPr>
          </a:p>
          <a:p>
            <a:pPr marL="342900" lvl="0" indent="-342900">
              <a:buClr>
                <a:schemeClr val="bg1"/>
              </a:buClr>
              <a:buFont typeface="+mj-lt"/>
              <a:buAutoNum type="arabicPeriod"/>
            </a:pPr>
            <a:r>
              <a:rPr lang="en-IN" sz="1600" b="1" dirty="0">
                <a:solidFill>
                  <a:schemeClr val="bg1">
                    <a:lumMod val="85000"/>
                  </a:schemeClr>
                </a:solidFill>
              </a:rPr>
              <a:t>Timed Blind Testing (Delayed Reveal)</a:t>
            </a:r>
            <a:br>
              <a:rPr lang="en-IN" sz="16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en-IN" sz="1600" dirty="0">
                <a:solidFill>
                  <a:schemeClr val="bg1">
                    <a:lumMod val="85000"/>
                  </a:schemeClr>
                </a:solidFill>
              </a:rPr>
              <a:t>Keeps attack prompts hidden from defenders and </a:t>
            </a:r>
            <a:r>
              <a:rPr lang="en-IN" sz="1600" dirty="0" err="1">
                <a:solidFill>
                  <a:schemeClr val="bg1">
                    <a:lumMod val="85000"/>
                  </a:schemeClr>
                </a:solidFill>
              </a:rPr>
              <a:t>defense</a:t>
            </a:r>
            <a:r>
              <a:rPr lang="en-IN" sz="1600" dirty="0">
                <a:solidFill>
                  <a:schemeClr val="bg1">
                    <a:lumMod val="85000"/>
                  </a:schemeClr>
                </a:solidFill>
              </a:rPr>
              <a:t> rules hidden from attackers until the testing round is officially over.</a:t>
            </a:r>
            <a:endParaRPr lang="en-IN" sz="1600" dirty="0">
              <a:solidFill>
                <a:schemeClr val="bg1">
                  <a:lumMod val="85000"/>
                </a:schemeClr>
              </a:solidFill>
              <a:effectLst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B5E181-644A-B486-17EB-02379B153512}"/>
              </a:ext>
            </a:extLst>
          </p:cNvPr>
          <p:cNvSpPr txBox="1"/>
          <p:nvPr/>
        </p:nvSpPr>
        <p:spPr>
          <a:xfrm>
            <a:off x="7555007" y="2961925"/>
            <a:ext cx="9323294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solidFill>
                  <a:schemeClr val="bg1">
                    <a:lumMod val="85000"/>
                  </a:schemeClr>
                </a:solidFill>
              </a:rPr>
              <a:t>1. Enforcement-Point Cryptographic Proof (RFC 8785 + Ed25519)</a:t>
            </a:r>
          </a:p>
          <a:p>
            <a:r>
              <a:rPr lang="en-IN" sz="1800" dirty="0">
                <a:solidFill>
                  <a:schemeClr val="bg1">
                    <a:lumMod val="85000"/>
                  </a:schemeClr>
                </a:solidFill>
              </a:rPr>
              <a:t>Generates an unbroken </a:t>
            </a:r>
            <a:r>
              <a:rPr lang="en-IN" sz="1800" b="1" dirty="0">
                <a:solidFill>
                  <a:schemeClr val="bg1">
                    <a:lumMod val="85000"/>
                  </a:schemeClr>
                </a:solidFill>
              </a:rPr>
              <a:t>SHA-256 hash chain</a:t>
            </a:r>
            <a:r>
              <a:rPr lang="en-IN" sz="1800" dirty="0">
                <a:solidFill>
                  <a:schemeClr val="bg1">
                    <a:lumMod val="85000"/>
                  </a:schemeClr>
                </a:solidFill>
              </a:rPr>
              <a:t> anchored by </a:t>
            </a:r>
            <a:r>
              <a:rPr lang="en-IN" sz="1800" b="1" dirty="0">
                <a:solidFill>
                  <a:schemeClr val="bg1">
                    <a:lumMod val="85000"/>
                  </a:schemeClr>
                </a:solidFill>
              </a:rPr>
              <a:t>Ed25519 digital signatures</a:t>
            </a:r>
            <a:r>
              <a:rPr lang="en-IN" sz="1800" dirty="0">
                <a:solidFill>
                  <a:schemeClr val="bg1">
                    <a:lumMod val="85000"/>
                  </a:schemeClr>
                </a:solidFill>
              </a:rPr>
              <a:t> using strict canonical serialization (RFC 8785). An auditor can verify the test trail offline in </a:t>
            </a:r>
            <a:r>
              <a:rPr lang="en-IN" sz="1800" b="1" dirty="0">
                <a:solidFill>
                  <a:schemeClr val="bg1">
                    <a:lumMod val="85000"/>
                  </a:schemeClr>
                </a:solidFill>
              </a:rPr>
              <a:t>&lt;1 second</a:t>
            </a:r>
            <a:r>
              <a:rPr lang="en-IN" sz="1800" dirty="0">
                <a:solidFill>
                  <a:schemeClr val="bg1">
                    <a:lumMod val="85000"/>
                  </a:schemeClr>
                </a:solidFill>
              </a:rPr>
              <a:t> with zero access to our servers. Modifying even 1 byte in history invalidates the entire chain.</a:t>
            </a:r>
          </a:p>
          <a:p>
            <a:pPr lvl="0"/>
            <a:endParaRPr lang="en-IN" sz="1800" dirty="0">
              <a:solidFill>
                <a:schemeClr val="bg1">
                  <a:lumMod val="95000"/>
                </a:schemeClr>
              </a:solidFill>
            </a:endParaRPr>
          </a:p>
          <a:p>
            <a:pPr lvl="0"/>
            <a:r>
              <a:rPr lang="en-IN" sz="1800" b="1" dirty="0">
                <a:solidFill>
                  <a:schemeClr val="bg1">
                    <a:lumMod val="95000"/>
                  </a:schemeClr>
                </a:solidFill>
              </a:rPr>
              <a:t>2.</a:t>
            </a:r>
            <a:r>
              <a:rPr lang="en-IN" sz="1800" b="1" dirty="0">
                <a:solidFill>
                  <a:schemeClr val="bg1"/>
                </a:solidFill>
              </a:rPr>
              <a:t> Verifiable Test History (DARPA Provenance):</a:t>
            </a:r>
            <a:r>
              <a:rPr lang="en-IN" sz="1800" dirty="0">
                <a:solidFill>
                  <a:schemeClr val="bg1"/>
                </a:solidFill>
              </a:rPr>
              <a:t> Creates an unbroken digital paper trail sealed with Ed25519 signatures, allowing any judge or auditor to verify and replay the exact test run offline.</a:t>
            </a:r>
            <a:br>
              <a:rPr lang="en-IN" sz="1800" b="1" dirty="0">
                <a:solidFill>
                  <a:schemeClr val="bg1"/>
                </a:solidFill>
              </a:rPr>
            </a:br>
            <a:br>
              <a:rPr lang="en-IN" sz="1800" b="1" dirty="0">
                <a:solidFill>
                  <a:schemeClr val="bg1"/>
                </a:solidFill>
              </a:rPr>
            </a:br>
            <a:r>
              <a:rPr lang="en-IN" sz="1800" b="1" dirty="0">
                <a:solidFill>
                  <a:schemeClr val="bg1">
                    <a:lumMod val="85000"/>
                  </a:schemeClr>
                </a:solidFill>
              </a:rPr>
              <a:t>3. Four-State Environmental Health Gate (Beyond Naive Pass/Fail)</a:t>
            </a:r>
          </a:p>
          <a:p>
            <a:pPr lvl="0"/>
            <a:r>
              <a:rPr lang="en-IN" sz="1800" dirty="0">
                <a:solidFill>
                  <a:schemeClr val="bg1">
                    <a:lumMod val="85000"/>
                  </a:schemeClr>
                </a:solidFill>
              </a:rPr>
              <a:t>Decouples model output from execution integrity using a deterministic 4-state engine (VALID, INVALIDATED, INCONCLUSIVE, NOT EVALUATED). Technical failures and observer blackouts immediately disqualify the run instead of faking a passing score.</a:t>
            </a:r>
          </a:p>
          <a:p>
            <a:pPr lvl="0"/>
            <a:endParaRPr lang="en-IN" sz="18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IN" sz="1800" b="1" dirty="0">
                <a:solidFill>
                  <a:schemeClr val="bg1">
                    <a:lumMod val="85000"/>
                  </a:schemeClr>
                </a:solidFill>
              </a:rPr>
              <a:t>4</a:t>
            </a:r>
            <a:r>
              <a:rPr lang="en-IN" sz="1800" b="1" dirty="0">
                <a:solidFill>
                  <a:schemeClr val="bg1">
                    <a:lumMod val="95000"/>
                  </a:schemeClr>
                </a:solidFill>
              </a:rPr>
              <a:t>. Lakera Gandalf &amp; Prompt Leak Containment:</a:t>
            </a:r>
            <a:r>
              <a:rPr lang="en-IN" sz="1800" dirty="0">
                <a:solidFill>
                  <a:schemeClr val="bg1">
                    <a:lumMod val="95000"/>
                  </a:schemeClr>
                </a:solidFill>
              </a:rPr>
              <a:t> Zero-tolerance canary tripwires instantly flag secret and system-prompt exfiltration before it reaches the model output.</a:t>
            </a:r>
          </a:p>
          <a:p>
            <a:endParaRPr lang="en-IN" sz="18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IN" sz="1800" b="1" dirty="0">
                <a:solidFill>
                  <a:schemeClr val="bg1">
                    <a:lumMod val="85000"/>
                  </a:schemeClr>
                </a:solidFill>
              </a:rPr>
              <a:t>5. Dual-Tenant Blinded Release Vaults</a:t>
            </a:r>
          </a:p>
          <a:p>
            <a:pPr lvl="0"/>
            <a:r>
              <a:rPr lang="en-IN" sz="1800" dirty="0">
                <a:solidFill>
                  <a:schemeClr val="bg1">
                    <a:lumMod val="85000"/>
                  </a:schemeClr>
                </a:solidFill>
              </a:rPr>
              <a:t>Holds proprietary attack payloads in encrypted isolation behind HMAC capability tokens. Test payloads are </a:t>
            </a:r>
            <a:r>
              <a:rPr lang="en-IN" sz="1800" b="1" dirty="0">
                <a:solidFill>
                  <a:schemeClr val="bg1">
                    <a:lumMod val="85000"/>
                  </a:schemeClr>
                </a:solidFill>
              </a:rPr>
              <a:t>physically prevented from releasing</a:t>
            </a:r>
            <a:r>
              <a:rPr lang="en-IN" sz="1800" dirty="0">
                <a:solidFill>
                  <a:schemeClr val="bg1">
                    <a:lumMod val="85000"/>
                  </a:schemeClr>
                </a:solidFill>
              </a:rPr>
              <a:t> until the evaluation run is cryptographically verified as clean and uncorrupted.</a:t>
            </a:r>
          </a:p>
          <a:p>
            <a:endParaRPr lang="en-IN" sz="18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2" name="Google Shape;103;p15">
            <a:extLst>
              <a:ext uri="{FF2B5EF4-FFF2-40B4-BE49-F238E27FC236}">
                <a16:creationId xmlns:a16="http://schemas.microsoft.com/office/drawing/2014/main" id="{B7FE78F2-52BE-8616-A91C-810EAF868EFE}"/>
              </a:ext>
            </a:extLst>
          </p:cNvPr>
          <p:cNvSpPr txBox="1"/>
          <p:nvPr/>
        </p:nvSpPr>
        <p:spPr>
          <a:xfrm>
            <a:off x="-279400" y="1503921"/>
            <a:ext cx="2771894" cy="118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SOLUTION</a:t>
            </a:r>
            <a:endParaRPr sz="2400" dirty="0">
              <a:solidFill>
                <a:schemeClr val="bg1"/>
              </a:solidFill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95" b="1" i="0" u="none" strike="noStrike" cap="none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" name="Google Shape;103;p15">
            <a:extLst>
              <a:ext uri="{FF2B5EF4-FFF2-40B4-BE49-F238E27FC236}">
                <a16:creationId xmlns:a16="http://schemas.microsoft.com/office/drawing/2014/main" id="{239B3B8A-F80B-646F-19A3-7869DEF369DC}"/>
              </a:ext>
            </a:extLst>
          </p:cNvPr>
          <p:cNvSpPr txBox="1"/>
          <p:nvPr/>
        </p:nvSpPr>
        <p:spPr>
          <a:xfrm>
            <a:off x="8742399" y="1774141"/>
            <a:ext cx="6385384" cy="1700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UNIQUE VALUE PROPOSITIONS</a:t>
            </a:r>
            <a:br>
              <a:rPr lang="en-US" sz="2400" b="1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2400" b="1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~BEYOND THE PROBLEM STATEMENT</a:t>
            </a: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3095" b="1" i="0" u="none" strike="noStrike" cap="none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847C1D8-6D13-2312-EA72-63C0445884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0843" y="1112422"/>
            <a:ext cx="1323439" cy="132343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2BAE11E-60E7-15C5-1EF0-89DEB29C1F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8776" y="4282932"/>
            <a:ext cx="1283001" cy="128300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9D7FF91-59B4-8736-DB0B-369769703F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56332" y="1256655"/>
            <a:ext cx="2438400" cy="24384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BAC311B-33FA-062F-A0B8-C54FC9BA38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878301" y="5094981"/>
            <a:ext cx="1007581" cy="100758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1732CEC-758B-29E0-05B5-2CA45A84635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805935" y="6470578"/>
            <a:ext cx="1152311" cy="115231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35169FC-0DE2-7D3A-5604-C66A3171409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818957" y="3289102"/>
            <a:ext cx="1126270" cy="112627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6A98CE55-DE27-9B35-08CF-532C2714BFF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849013" y="7911104"/>
            <a:ext cx="1152311" cy="115231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/>
          <p:nvPr/>
        </p:nvSpPr>
        <p:spPr>
          <a:xfrm>
            <a:off x="1225986" y="3412535"/>
            <a:ext cx="4706682" cy="1333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95" b="1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ARCHITECTURE</a:t>
            </a:r>
            <a:endParaRPr dirty="0">
              <a:solidFill>
                <a:schemeClr val="bg1"/>
              </a:solidFill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95" b="1" i="0" u="none" strike="noStrike" cap="none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13" name="Google Shape;113;p16"/>
          <p:cNvGrpSpPr/>
          <p:nvPr/>
        </p:nvGrpSpPr>
        <p:grpSpPr>
          <a:xfrm>
            <a:off x="3418425" y="5202605"/>
            <a:ext cx="22310280" cy="1288284"/>
            <a:chOff x="1332206" y="3361663"/>
            <a:chExt cx="29747036" cy="1717711"/>
          </a:xfrm>
        </p:grpSpPr>
        <p:sp>
          <p:nvSpPr>
            <p:cNvPr id="114" name="Google Shape;114;p16"/>
            <p:cNvSpPr txBox="1"/>
            <p:nvPr/>
          </p:nvSpPr>
          <p:spPr>
            <a:xfrm>
              <a:off x="15794256" y="4488442"/>
              <a:ext cx="15284986" cy="5909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 dirty="0">
                  <a:solidFill>
                    <a:schemeClr val="bg1"/>
                  </a:solidFill>
                  <a:latin typeface="Montserrat" panose="00000500000000000000" pitchFamily="2" charset="0"/>
                  <a:ea typeface="IBM Plex Sans"/>
                  <a:cs typeface="IBM Plex Sans"/>
                  <a:sym typeface="IBM Plex Sans"/>
                </a:rPr>
                <a:t>TECH STACK</a:t>
              </a:r>
              <a:endParaRPr sz="2400" b="1" i="0" u="none" strike="noStrike" cap="none" dirty="0">
                <a:solidFill>
                  <a:schemeClr val="bg1"/>
                </a:solidFill>
                <a:latin typeface="Montserrat" panose="00000500000000000000" pitchFamily="2" charset="0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15" name="Google Shape;115;p16"/>
            <p:cNvSpPr txBox="1"/>
            <p:nvPr/>
          </p:nvSpPr>
          <p:spPr>
            <a:xfrm>
              <a:off x="1332206" y="3361663"/>
              <a:ext cx="15284988" cy="6160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6" name="Google Shape;116;p16" title="pptn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0945089-1D5E-5153-8D44-5185F7C55DC6}"/>
              </a:ext>
            </a:extLst>
          </p:cNvPr>
          <p:cNvSpPr txBox="1"/>
          <p:nvPr/>
        </p:nvSpPr>
        <p:spPr>
          <a:xfrm>
            <a:off x="2540000" y="361950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E4605E-1A4A-E953-4D4F-79CBBF583EB9}"/>
              </a:ext>
            </a:extLst>
          </p:cNvPr>
          <p:cNvSpPr txBox="1"/>
          <p:nvPr/>
        </p:nvSpPr>
        <p:spPr>
          <a:xfrm>
            <a:off x="12978311" y="6616167"/>
            <a:ext cx="53527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1600" b="1" dirty="0">
                <a:solidFill>
                  <a:schemeClr val="bg1">
                    <a:lumMod val="85000"/>
                  </a:schemeClr>
                </a:solidFill>
              </a:rPr>
              <a:t>Backend &amp; API:</a:t>
            </a:r>
            <a:r>
              <a:rPr lang="en-IN" sz="1600" dirty="0">
                <a:solidFill>
                  <a:schemeClr val="bg1">
                    <a:lumMod val="85000"/>
                  </a:schemeClr>
                </a:solidFill>
              </a:rPr>
              <a:t> Python 3.14, </a:t>
            </a:r>
            <a:r>
              <a:rPr lang="en-IN" sz="1600" dirty="0" err="1">
                <a:solidFill>
                  <a:schemeClr val="bg1">
                    <a:lumMod val="85000"/>
                  </a:schemeClr>
                </a:solidFill>
              </a:rPr>
              <a:t>FastAPI</a:t>
            </a:r>
            <a:r>
              <a:rPr lang="en-IN" sz="1600" dirty="0">
                <a:solidFill>
                  <a:schemeClr val="bg1">
                    <a:lumMod val="85000"/>
                  </a:schemeClr>
                </a:solidFill>
              </a:rPr>
              <a:t>, </a:t>
            </a:r>
            <a:r>
              <a:rPr lang="en-IN" sz="1600" dirty="0" err="1">
                <a:solidFill>
                  <a:schemeClr val="bg1">
                    <a:lumMod val="85000"/>
                  </a:schemeClr>
                </a:solidFill>
              </a:rPr>
              <a:t>Uvicorn</a:t>
            </a:r>
            <a:r>
              <a:rPr lang="en-IN" sz="1600" dirty="0">
                <a:solidFill>
                  <a:schemeClr val="bg1">
                    <a:lumMod val="85000"/>
                  </a:schemeClr>
                </a:solidFill>
              </a:rPr>
              <a:t>, </a:t>
            </a:r>
            <a:r>
              <a:rPr lang="en-IN" sz="1600" dirty="0" err="1">
                <a:solidFill>
                  <a:schemeClr val="bg1">
                    <a:lumMod val="85000"/>
                  </a:schemeClr>
                </a:solidFill>
              </a:rPr>
              <a:t>Pydantic</a:t>
            </a:r>
            <a:r>
              <a:rPr lang="en-IN" sz="1600" dirty="0">
                <a:solidFill>
                  <a:schemeClr val="bg1">
                    <a:lumMod val="85000"/>
                  </a:schemeClr>
                </a:solidFill>
              </a:rPr>
              <a:t> v2</a:t>
            </a:r>
          </a:p>
          <a:p>
            <a:pPr lvl="0"/>
            <a:r>
              <a:rPr lang="en-IN" sz="1600" b="1" dirty="0">
                <a:solidFill>
                  <a:schemeClr val="bg1">
                    <a:lumMod val="85000"/>
                  </a:schemeClr>
                </a:solidFill>
              </a:rPr>
              <a:t>Cryptography:</a:t>
            </a:r>
            <a:r>
              <a:rPr lang="en-IN" sz="1600" dirty="0">
                <a:solidFill>
                  <a:schemeClr val="bg1">
                    <a:lumMod val="85000"/>
                  </a:schemeClr>
                </a:solidFill>
              </a:rPr>
              <a:t> RFC 8785 (Canonical JSON), Ed25519, SHA-256, HMAC-SHA256</a:t>
            </a:r>
          </a:p>
          <a:p>
            <a:pPr lvl="0"/>
            <a:endParaRPr lang="en-IN" sz="1600" dirty="0">
              <a:solidFill>
                <a:schemeClr val="bg1">
                  <a:lumMod val="85000"/>
                </a:schemeClr>
              </a:solidFill>
            </a:endParaRPr>
          </a:p>
          <a:p>
            <a:pPr lvl="0"/>
            <a:r>
              <a:rPr lang="en-IN" sz="1600" b="1" dirty="0">
                <a:solidFill>
                  <a:schemeClr val="bg1">
                    <a:lumMod val="85000"/>
                  </a:schemeClr>
                </a:solidFill>
              </a:rPr>
              <a:t>Sandboxing &amp; Governance:</a:t>
            </a:r>
            <a:r>
              <a:rPr lang="en-IN" sz="1600" dirty="0">
                <a:solidFill>
                  <a:schemeClr val="bg1">
                    <a:lumMod val="85000"/>
                  </a:schemeClr>
                </a:solidFill>
              </a:rPr>
              <a:t> Docker / OCI, Linux Namespaces, </a:t>
            </a:r>
            <a:r>
              <a:rPr lang="en-IN" sz="1600" dirty="0" err="1">
                <a:solidFill>
                  <a:schemeClr val="bg1">
                    <a:lumMod val="85000"/>
                  </a:schemeClr>
                </a:solidFill>
              </a:rPr>
              <a:t>psutil</a:t>
            </a:r>
            <a:r>
              <a:rPr lang="en-IN" sz="1600" dirty="0">
                <a:solidFill>
                  <a:schemeClr val="bg1">
                    <a:lumMod val="85000"/>
                  </a:schemeClr>
                </a:solidFill>
              </a:rPr>
              <a:t> Telemetry</a:t>
            </a:r>
          </a:p>
          <a:p>
            <a:pPr lvl="0"/>
            <a:endParaRPr lang="en-IN" sz="1600" dirty="0">
              <a:solidFill>
                <a:schemeClr val="bg1">
                  <a:lumMod val="85000"/>
                </a:schemeClr>
              </a:solidFill>
            </a:endParaRPr>
          </a:p>
          <a:p>
            <a:pPr lvl="0"/>
            <a:r>
              <a:rPr lang="en-IN" sz="1600" b="1" dirty="0">
                <a:solidFill>
                  <a:schemeClr val="bg1">
                    <a:lumMod val="85000"/>
                  </a:schemeClr>
                </a:solidFill>
              </a:rPr>
              <a:t>Frontend:</a:t>
            </a:r>
            <a:r>
              <a:rPr lang="en-IN" sz="1600" dirty="0">
                <a:solidFill>
                  <a:schemeClr val="bg1">
                    <a:lumMod val="85000"/>
                  </a:schemeClr>
                </a:solidFill>
              </a:rPr>
              <a:t> Tailwind CSS, HTML5 Canvas API, Vanilla JS </a:t>
            </a:r>
          </a:p>
          <a:p>
            <a:pPr lvl="0"/>
            <a:endParaRPr lang="en-IN" sz="1600" dirty="0">
              <a:solidFill>
                <a:schemeClr val="bg1">
                  <a:lumMod val="85000"/>
                </a:schemeClr>
              </a:solidFill>
            </a:endParaRPr>
          </a:p>
          <a:p>
            <a:pPr lvl="0"/>
            <a:r>
              <a:rPr lang="en-IN" sz="1600" b="1" dirty="0">
                <a:solidFill>
                  <a:schemeClr val="bg1">
                    <a:lumMod val="85000"/>
                  </a:schemeClr>
                </a:solidFill>
              </a:rPr>
              <a:t>Testing:</a:t>
            </a:r>
            <a:r>
              <a:rPr lang="en-IN" sz="16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IN" sz="1600" dirty="0" err="1">
                <a:solidFill>
                  <a:schemeClr val="bg1">
                    <a:lumMod val="85000"/>
                  </a:schemeClr>
                </a:solidFill>
              </a:rPr>
              <a:t>Pytest</a:t>
            </a:r>
            <a:r>
              <a:rPr lang="en-IN" sz="1600" dirty="0">
                <a:solidFill>
                  <a:schemeClr val="bg1">
                    <a:lumMod val="85000"/>
                  </a:schemeClr>
                </a:solidFill>
              </a:rPr>
              <a:t>, </a:t>
            </a:r>
            <a:r>
              <a:rPr lang="en-IN" sz="1600" dirty="0" err="1">
                <a:solidFill>
                  <a:schemeClr val="bg1">
                    <a:lumMod val="85000"/>
                  </a:schemeClr>
                </a:solidFill>
              </a:rPr>
              <a:t>Pytest-Asyncio</a:t>
            </a:r>
            <a:endParaRPr lang="en-IN" sz="1600" dirty="0">
              <a:solidFill>
                <a:schemeClr val="bg1">
                  <a:lumMod val="85000"/>
                </a:schemeClr>
              </a:solidFill>
            </a:endParaRPr>
          </a:p>
          <a:p>
            <a:endParaRPr lang="en-IN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D0524E-8E57-5F80-6D8E-777621558F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9210" y="9429999"/>
            <a:ext cx="15753541" cy="83304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B9C769D-930D-E2FA-84F0-73D996B1C4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11981" y="737673"/>
            <a:ext cx="8229064" cy="9237149"/>
          </a:xfrm>
          <a:prstGeom prst="rect">
            <a:avLst/>
          </a:prstGeom>
        </p:spPr>
      </p:pic>
      <p:sp>
        <p:nvSpPr>
          <p:cNvPr id="15" name="Google Shape;112;p16">
            <a:extLst>
              <a:ext uri="{FF2B5EF4-FFF2-40B4-BE49-F238E27FC236}">
                <a16:creationId xmlns:a16="http://schemas.microsoft.com/office/drawing/2014/main" id="{ACA28802-46C4-58CD-6098-37EF55A1D819}"/>
              </a:ext>
            </a:extLst>
          </p:cNvPr>
          <p:cNvSpPr txBox="1"/>
          <p:nvPr/>
        </p:nvSpPr>
        <p:spPr>
          <a:xfrm>
            <a:off x="1449210" y="6583054"/>
            <a:ext cx="4706682" cy="666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95" b="1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USER FLOW</a:t>
            </a:r>
            <a:endParaRPr sz="3095" b="1" i="0" u="none" strike="noStrike" cap="none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Google Shape;112;p16">
            <a:extLst>
              <a:ext uri="{FF2B5EF4-FFF2-40B4-BE49-F238E27FC236}">
                <a16:creationId xmlns:a16="http://schemas.microsoft.com/office/drawing/2014/main" id="{EC26E158-0E2D-55D0-11D7-9F08A85B5CF6}"/>
              </a:ext>
            </a:extLst>
          </p:cNvPr>
          <p:cNvSpPr txBox="1"/>
          <p:nvPr/>
        </p:nvSpPr>
        <p:spPr>
          <a:xfrm>
            <a:off x="1449210" y="5433629"/>
            <a:ext cx="4706682" cy="666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95" b="1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&amp;</a:t>
            </a:r>
            <a:endParaRPr sz="3095" b="1" i="0" u="none" strike="noStrike" cap="none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16507E36-7570-097B-6579-674476FD54A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49006"/>
          <a:stretch>
            <a:fillRect/>
          </a:stretch>
        </p:blipFill>
        <p:spPr>
          <a:xfrm>
            <a:off x="8509714" y="1407127"/>
            <a:ext cx="4468597" cy="36195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4E368D41-0776-33E1-17D6-CF07E334AAA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9425" t="-2824" r="-419" b="2824"/>
          <a:stretch>
            <a:fillRect/>
          </a:stretch>
        </p:blipFill>
        <p:spPr>
          <a:xfrm>
            <a:off x="8856725" y="5722375"/>
            <a:ext cx="4468597" cy="36195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9009757-EB64-AA24-7923-D20A8FD3A3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0800000">
            <a:off x="6217961" y="1242409"/>
            <a:ext cx="3810000" cy="85725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A185BF20-EFA1-047E-6C37-544B2B7303A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0800000">
            <a:off x="6351681" y="1239768"/>
            <a:ext cx="3810000" cy="8572500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3CF2159B-2C99-2C13-7AE8-14C3B44DE954}"/>
              </a:ext>
            </a:extLst>
          </p:cNvPr>
          <p:cNvSpPr txBox="1"/>
          <p:nvPr/>
        </p:nvSpPr>
        <p:spPr>
          <a:xfrm>
            <a:off x="13544245" y="1522740"/>
            <a:ext cx="402546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Montserrat" panose="00000500000000000000" pitchFamily="2" charset="0"/>
              </a:rPr>
              <a:t>LATENCY BREAKDOWN</a:t>
            </a:r>
            <a:br>
              <a:rPr lang="en-US" sz="2400" b="1" dirty="0">
                <a:solidFill>
                  <a:schemeClr val="bg1"/>
                </a:solidFill>
                <a:latin typeface="Montserrat" panose="00000500000000000000" pitchFamily="2" charset="0"/>
              </a:rPr>
            </a:br>
            <a:r>
              <a:rPr lang="en-US" sz="2400" b="1" dirty="0">
                <a:solidFill>
                  <a:schemeClr val="bg1"/>
                </a:solidFill>
                <a:latin typeface="Montserrat" panose="00000500000000000000" pitchFamily="2" charset="0"/>
              </a:rPr>
              <a:t>	     ~5.5ms</a:t>
            </a:r>
            <a:endParaRPr lang="en-IN" sz="2400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46" name="Google Shape;112;p16">
            <a:extLst>
              <a:ext uri="{FF2B5EF4-FFF2-40B4-BE49-F238E27FC236}">
                <a16:creationId xmlns:a16="http://schemas.microsoft.com/office/drawing/2014/main" id="{D144CAB1-9BC4-3A83-1A6D-A8E1D8A3454C}"/>
              </a:ext>
            </a:extLst>
          </p:cNvPr>
          <p:cNvSpPr txBox="1"/>
          <p:nvPr/>
        </p:nvSpPr>
        <p:spPr>
          <a:xfrm>
            <a:off x="8557036" y="5041108"/>
            <a:ext cx="4706682" cy="666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95" b="1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ISOLATION</a:t>
            </a:r>
            <a:endParaRPr sz="3095" b="1" i="0" u="none" strike="noStrike" cap="none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4114FB49-0979-C658-45C4-1603D47C129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348" y="1216066"/>
            <a:ext cx="2940428" cy="2180544"/>
          </a:xfrm>
          <a:prstGeom prst="round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25ACA9F8-558D-9D0B-F641-7A0A0314352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37970" y="1205516"/>
            <a:ext cx="3048000" cy="2047107"/>
          </a:xfrm>
          <a:prstGeom prst="round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6BED2B43-23A8-6A0B-5A98-E37F5F6C04C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00522" y="4286592"/>
            <a:ext cx="3048000" cy="2136550"/>
          </a:xfrm>
          <a:prstGeom prst="round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9518AF26-60B3-17A0-E55F-51A7D0AFBE8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9222" y="4256025"/>
            <a:ext cx="3048000" cy="2013266"/>
          </a:xfrm>
          <a:prstGeom prst="round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2F27F5C3-28D8-85B8-ECAA-428CBF12882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1643" y="7269554"/>
            <a:ext cx="3048000" cy="2013266"/>
          </a:xfrm>
          <a:prstGeom prst="round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F3E26943-EFA3-A946-0508-171776C7BCB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67382" y="7198233"/>
            <a:ext cx="3048000" cy="2143642"/>
          </a:xfrm>
          <a:prstGeom prst="round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6B5C3CAD-9F04-480C-9150-DC428199FE53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32025" r="34394"/>
          <a:stretch>
            <a:fillRect/>
          </a:stretch>
        </p:blipFill>
        <p:spPr>
          <a:xfrm>
            <a:off x="13765136" y="1826000"/>
            <a:ext cx="3455040" cy="4597142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091F0849-2AA7-6835-24DC-F595AFE1ABC8}"/>
              </a:ext>
            </a:extLst>
          </p:cNvPr>
          <p:cNvSpPr txBox="1"/>
          <p:nvPr/>
        </p:nvSpPr>
        <p:spPr>
          <a:xfrm>
            <a:off x="17221296" y="2479015"/>
            <a:ext cx="105830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Digital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Signature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and proof 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3C00869-4AE3-CCFF-BE8E-3A25408D0B49}"/>
              </a:ext>
            </a:extLst>
          </p:cNvPr>
          <p:cNvSpPr txBox="1"/>
          <p:nvPr/>
        </p:nvSpPr>
        <p:spPr>
          <a:xfrm>
            <a:off x="17277534" y="5186301"/>
            <a:ext cx="10534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Memory and 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Sandbox Safety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6E761ED-FF7D-DF65-812B-692782C05245}"/>
              </a:ext>
            </a:extLst>
          </p:cNvPr>
          <p:cNvSpPr txBox="1"/>
          <p:nvPr/>
        </p:nvSpPr>
        <p:spPr>
          <a:xfrm>
            <a:off x="12685833" y="5237942"/>
            <a:ext cx="13388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Tamper proof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log checks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74CD4AA-5B5E-3DA3-461A-C2C4D0C15C01}"/>
              </a:ext>
            </a:extLst>
          </p:cNvPr>
          <p:cNvSpPr txBox="1"/>
          <p:nvPr/>
        </p:nvSpPr>
        <p:spPr>
          <a:xfrm>
            <a:off x="12648609" y="2500916"/>
            <a:ext cx="14462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Vault 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access-control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C73546B-AA12-BC8A-1718-7BFA76D43D9F}"/>
              </a:ext>
            </a:extLst>
          </p:cNvPr>
          <p:cNvSpPr txBox="1"/>
          <p:nvPr/>
        </p:nvSpPr>
        <p:spPr>
          <a:xfrm>
            <a:off x="16900763" y="3160303"/>
            <a:ext cx="13244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(33% ~1.8ms)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ED82E27-2850-2863-C6D9-F77CAFC7FA46}"/>
              </a:ext>
            </a:extLst>
          </p:cNvPr>
          <p:cNvSpPr txBox="1"/>
          <p:nvPr/>
        </p:nvSpPr>
        <p:spPr>
          <a:xfrm>
            <a:off x="12943561" y="2984304"/>
            <a:ext cx="1175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(18% ~1ms)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462E183-2882-0361-E0D9-21A074854775}"/>
              </a:ext>
            </a:extLst>
          </p:cNvPr>
          <p:cNvSpPr txBox="1"/>
          <p:nvPr/>
        </p:nvSpPr>
        <p:spPr>
          <a:xfrm>
            <a:off x="12744864" y="4989611"/>
            <a:ext cx="13244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(22% ~1.2ms)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2D649E4-6D13-A2C5-94D5-F7B9238EFE78}"/>
              </a:ext>
            </a:extLst>
          </p:cNvPr>
          <p:cNvSpPr txBox="1"/>
          <p:nvPr/>
        </p:nvSpPr>
        <p:spPr>
          <a:xfrm>
            <a:off x="16744119" y="4958823"/>
            <a:ext cx="13244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(27% ~1.5ms)</a:t>
            </a:r>
            <a:endParaRPr lang="en-IN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/>
          <p:nvPr/>
        </p:nvSpPr>
        <p:spPr>
          <a:xfrm>
            <a:off x="4151191" y="1244615"/>
            <a:ext cx="9064063" cy="666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95" b="1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MARKET RESEARCH/ANALYSIS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22" name="Google Shape;122;p17"/>
          <p:cNvGrpSpPr/>
          <p:nvPr/>
        </p:nvGrpSpPr>
        <p:grpSpPr>
          <a:xfrm>
            <a:off x="544835" y="2082950"/>
            <a:ext cx="13857667" cy="3691527"/>
            <a:chOff x="-3225479" y="-712448"/>
            <a:chExt cx="18476889" cy="4922037"/>
          </a:xfrm>
        </p:grpSpPr>
        <p:sp>
          <p:nvSpPr>
            <p:cNvPr id="123" name="Google Shape;123;p17"/>
            <p:cNvSpPr txBox="1"/>
            <p:nvPr/>
          </p:nvSpPr>
          <p:spPr>
            <a:xfrm>
              <a:off x="-3225479" y="-712448"/>
              <a:ext cx="15251410" cy="745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27" b="1" i="0" u="none" strike="noStrike" cap="none" dirty="0">
                  <a:solidFill>
                    <a:schemeClr val="bg1"/>
                  </a:solidFill>
                  <a:latin typeface="Montserrat" panose="00000500000000000000" pitchFamily="2" charset="0"/>
                  <a:ea typeface="IBM Plex Sans"/>
                  <a:cs typeface="IBM Plex Sans"/>
                  <a:sym typeface="IBM Plex Sans"/>
                </a:rPr>
                <a:t>TARGET USERS</a:t>
              </a:r>
              <a:endParaRPr sz="3027" b="1" i="0" u="none" strike="noStrike" cap="none" dirty="0">
                <a:solidFill>
                  <a:schemeClr val="bg1"/>
                </a:solidFill>
                <a:latin typeface="Montserrat" panose="00000500000000000000" pitchFamily="2" charset="0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24" name="Google Shape;124;p17"/>
            <p:cNvSpPr txBox="1"/>
            <p:nvPr/>
          </p:nvSpPr>
          <p:spPr>
            <a:xfrm>
              <a:off x="1222710" y="3634640"/>
              <a:ext cx="14028700" cy="5749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85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25" name="Google Shape;125;p17" title="pptn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4A53391-5CA0-70E6-C9E9-4E4F2277A9A6}"/>
              </a:ext>
            </a:extLst>
          </p:cNvPr>
          <p:cNvSpPr txBox="1"/>
          <p:nvPr/>
        </p:nvSpPr>
        <p:spPr>
          <a:xfrm>
            <a:off x="5856790" y="3946967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0B67F2-FFDF-A792-D9E0-245168191440}"/>
              </a:ext>
            </a:extLst>
          </p:cNvPr>
          <p:cNvSpPr txBox="1"/>
          <p:nvPr/>
        </p:nvSpPr>
        <p:spPr>
          <a:xfrm>
            <a:off x="516201" y="2939970"/>
            <a:ext cx="600034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1600" b="1" dirty="0">
                <a:solidFill>
                  <a:schemeClr val="bg1">
                    <a:lumMod val="85000"/>
                  </a:schemeClr>
                </a:solidFill>
              </a:rPr>
              <a:t>AI Research Labs</a:t>
            </a:r>
          </a:p>
          <a:p>
            <a:pPr lvl="0"/>
            <a:r>
              <a:rPr lang="en-IN" sz="1600" dirty="0">
                <a:solidFill>
                  <a:schemeClr val="bg1">
                    <a:lumMod val="85000"/>
                  </a:schemeClr>
                </a:solidFill>
              </a:rPr>
              <a:t> Need blind vaults so models cannot cheat or leak private benchmark questions.</a:t>
            </a:r>
          </a:p>
          <a:p>
            <a:pPr lvl="0"/>
            <a:endParaRPr lang="en-IN" sz="1600" dirty="0">
              <a:solidFill>
                <a:schemeClr val="bg1">
                  <a:lumMod val="85000"/>
                </a:schemeClr>
              </a:solidFill>
            </a:endParaRPr>
          </a:p>
          <a:p>
            <a:pPr lvl="0"/>
            <a:r>
              <a:rPr lang="en-IN" sz="1600" b="1" dirty="0">
                <a:solidFill>
                  <a:schemeClr val="bg1">
                    <a:lumMod val="85000"/>
                  </a:schemeClr>
                </a:solidFill>
              </a:rPr>
              <a:t>Enterprise Dev Teams</a:t>
            </a:r>
          </a:p>
          <a:p>
            <a:pPr lvl="0"/>
            <a:r>
              <a:rPr lang="en-IN" sz="1600" dirty="0">
                <a:solidFill>
                  <a:schemeClr val="bg1">
                    <a:lumMod val="85000"/>
                  </a:schemeClr>
                </a:solidFill>
              </a:rPr>
              <a:t>Need to verify that AI coding agents aren't faking passes or spoofing test exit codes.</a:t>
            </a:r>
          </a:p>
          <a:p>
            <a:pPr lvl="0"/>
            <a:endParaRPr lang="en-IN" sz="1600" dirty="0">
              <a:solidFill>
                <a:schemeClr val="bg1">
                  <a:lumMod val="85000"/>
                </a:schemeClr>
              </a:solidFill>
            </a:endParaRPr>
          </a:p>
          <a:p>
            <a:pPr lvl="0"/>
            <a:r>
              <a:rPr lang="en-IN" sz="1600" b="1" dirty="0">
                <a:solidFill>
                  <a:schemeClr val="bg1">
                    <a:lumMod val="85000"/>
                  </a:schemeClr>
                </a:solidFill>
              </a:rPr>
              <a:t>AI Leaderboards &amp; Competitions</a:t>
            </a:r>
            <a:r>
              <a:rPr lang="en-IN" sz="1600" dirty="0">
                <a:solidFill>
                  <a:schemeClr val="bg1">
                    <a:lumMod val="85000"/>
                  </a:schemeClr>
                </a:solidFill>
              </a:rPr>
              <a:t> Need cryptographic proofs to guarantee scores reflect authentic, un-tampered code runs.</a:t>
            </a:r>
          </a:p>
          <a:p>
            <a:pPr lvl="0"/>
            <a:endParaRPr lang="en-IN" sz="1600" dirty="0">
              <a:solidFill>
                <a:schemeClr val="bg1">
                  <a:lumMod val="85000"/>
                </a:schemeClr>
              </a:solidFill>
            </a:endParaRPr>
          </a:p>
          <a:p>
            <a:pPr lvl="0"/>
            <a:r>
              <a:rPr lang="en-IN" sz="1600" b="1" dirty="0">
                <a:solidFill>
                  <a:schemeClr val="bg1">
                    <a:lumMod val="85000"/>
                  </a:schemeClr>
                </a:solidFill>
              </a:rPr>
              <a:t>Compliance &amp; Security Teams</a:t>
            </a:r>
            <a:r>
              <a:rPr lang="en-IN" sz="1600" dirty="0">
                <a:solidFill>
                  <a:schemeClr val="bg1">
                    <a:lumMod val="85000"/>
                  </a:schemeClr>
                </a:solidFill>
              </a:rPr>
              <a:t> Need unalterable digital receipts to prove AI software safety under emerging laws like the EU AI Act.</a:t>
            </a:r>
          </a:p>
          <a:p>
            <a:endParaRPr lang="en-IN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2E0C66-A215-E85E-C6F4-C93E74C866D5}"/>
              </a:ext>
            </a:extLst>
          </p:cNvPr>
          <p:cNvSpPr txBox="1"/>
          <p:nvPr/>
        </p:nvSpPr>
        <p:spPr>
          <a:xfrm>
            <a:off x="12731048" y="2885988"/>
            <a:ext cx="524333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solidFill>
                  <a:schemeClr val="bg1">
                    <a:lumMod val="85000"/>
                  </a:schemeClr>
                </a:solidFill>
              </a:rPr>
              <a:t>TAM ($5.8B):</a:t>
            </a:r>
            <a:r>
              <a:rPr lang="en-IN" sz="1800" dirty="0">
                <a:solidFill>
                  <a:schemeClr val="bg1">
                    <a:lumMod val="85000"/>
                  </a:schemeClr>
                </a:solidFill>
              </a:rPr>
              <a:t> The total global market for AI governance, evaluation platforms, and </a:t>
            </a:r>
            <a:r>
              <a:rPr lang="en-IN" sz="1800" dirty="0" err="1">
                <a:solidFill>
                  <a:schemeClr val="bg1">
                    <a:lumMod val="85000"/>
                  </a:schemeClr>
                </a:solidFill>
              </a:rPr>
              <a:t>MLOps</a:t>
            </a:r>
            <a:r>
              <a:rPr lang="en-IN" sz="1800" dirty="0">
                <a:solidFill>
                  <a:schemeClr val="bg1">
                    <a:lumMod val="85000"/>
                  </a:schemeClr>
                </a:solidFill>
              </a:rPr>
              <a:t> tooling.</a:t>
            </a:r>
          </a:p>
          <a:p>
            <a:endParaRPr lang="en-IN" sz="1800" dirty="0">
              <a:solidFill>
                <a:schemeClr val="bg1">
                  <a:lumMod val="85000"/>
                </a:schemeClr>
              </a:solidFill>
            </a:endParaRPr>
          </a:p>
          <a:p>
            <a:pPr lvl="0"/>
            <a:r>
              <a:rPr lang="en-IN" sz="1800" b="1" dirty="0">
                <a:solidFill>
                  <a:schemeClr val="bg1">
                    <a:lumMod val="85000"/>
                  </a:schemeClr>
                </a:solidFill>
              </a:rPr>
              <a:t>SAM ($1.4B):</a:t>
            </a:r>
            <a:r>
              <a:rPr lang="en-IN" sz="1800" dirty="0">
                <a:solidFill>
                  <a:schemeClr val="bg1">
                    <a:lumMod val="85000"/>
                  </a:schemeClr>
                </a:solidFill>
              </a:rPr>
              <a:t> The specialized market segment focused specifically on automated AI code testing and sandbox security.</a:t>
            </a:r>
          </a:p>
          <a:p>
            <a:pPr lvl="0"/>
            <a:endParaRPr lang="en-IN" sz="1800" dirty="0">
              <a:solidFill>
                <a:schemeClr val="bg1">
                  <a:lumMod val="85000"/>
                </a:schemeClr>
              </a:solidFill>
            </a:endParaRPr>
          </a:p>
          <a:p>
            <a:pPr lvl="0"/>
            <a:r>
              <a:rPr lang="en-IN" sz="1800" b="1" dirty="0">
                <a:solidFill>
                  <a:schemeClr val="bg1">
                    <a:lumMod val="85000"/>
                  </a:schemeClr>
                </a:solidFill>
              </a:rPr>
              <a:t>SOM ($140M):</a:t>
            </a:r>
            <a:r>
              <a:rPr lang="en-IN" sz="1800" dirty="0">
                <a:solidFill>
                  <a:schemeClr val="bg1">
                    <a:lumMod val="85000"/>
                  </a:schemeClr>
                </a:solidFill>
              </a:rPr>
              <a:t> Our realistic 3-year market share targeting high-trust AI leaderboard hosts and enterprise coding-agent teams.</a:t>
            </a:r>
          </a:p>
          <a:p>
            <a:endParaRPr lang="en-IN" sz="18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Google Shape;123;p17">
            <a:extLst>
              <a:ext uri="{FF2B5EF4-FFF2-40B4-BE49-F238E27FC236}">
                <a16:creationId xmlns:a16="http://schemas.microsoft.com/office/drawing/2014/main" id="{B3A46603-49C1-B4C2-C015-A62570D4F395}"/>
              </a:ext>
            </a:extLst>
          </p:cNvPr>
          <p:cNvSpPr txBox="1"/>
          <p:nvPr/>
        </p:nvSpPr>
        <p:spPr>
          <a:xfrm>
            <a:off x="13440138" y="2157528"/>
            <a:ext cx="11438558" cy="558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27" b="1" i="0" u="none" strike="noStrike" cap="none" dirty="0">
                <a:solidFill>
                  <a:schemeClr val="bg1"/>
                </a:solidFill>
                <a:latin typeface="Montserrat" panose="00000500000000000000" pitchFamily="2" charset="0"/>
                <a:ea typeface="IBM Plex Sans"/>
                <a:cs typeface="IBM Plex Sans"/>
                <a:sym typeface="IBM Plex Sans"/>
              </a:rPr>
              <a:t>MARKET SIZE</a:t>
            </a:r>
            <a:endParaRPr sz="3027" b="1" i="0" u="none" strike="noStrike" cap="none" dirty="0">
              <a:solidFill>
                <a:schemeClr val="bg1"/>
              </a:solidFill>
              <a:latin typeface="Montserrat" panose="00000500000000000000" pitchFamily="2" charset="0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8" name="Google Shape;123;p17">
            <a:extLst>
              <a:ext uri="{FF2B5EF4-FFF2-40B4-BE49-F238E27FC236}">
                <a16:creationId xmlns:a16="http://schemas.microsoft.com/office/drawing/2014/main" id="{6C2A2A5B-64B9-1246-5DC8-953F5EEA11C0}"/>
              </a:ext>
            </a:extLst>
          </p:cNvPr>
          <p:cNvSpPr txBox="1"/>
          <p:nvPr/>
        </p:nvSpPr>
        <p:spPr>
          <a:xfrm>
            <a:off x="7459330" y="2061391"/>
            <a:ext cx="11438558" cy="558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27" b="1" i="0" u="none" strike="noStrike" cap="none" dirty="0">
                <a:solidFill>
                  <a:schemeClr val="bg1"/>
                </a:solidFill>
                <a:latin typeface="Montserrat" panose="00000500000000000000" pitchFamily="2" charset="0"/>
                <a:ea typeface="IBM Plex Sans"/>
                <a:cs typeface="IBM Plex Sans"/>
                <a:sym typeface="IBM Plex Sans"/>
              </a:rPr>
              <a:t>REVENUE MODEL</a:t>
            </a:r>
            <a:endParaRPr sz="3027" b="1" i="0" u="none" strike="noStrike" cap="none" dirty="0">
              <a:solidFill>
                <a:schemeClr val="bg1"/>
              </a:solidFill>
              <a:latin typeface="Montserrat" panose="00000500000000000000" pitchFamily="2" charset="0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F8405D-1D06-EE9F-8255-E4C04020E913}"/>
              </a:ext>
            </a:extLst>
          </p:cNvPr>
          <p:cNvSpPr txBox="1"/>
          <p:nvPr/>
        </p:nvSpPr>
        <p:spPr>
          <a:xfrm>
            <a:off x="7476138" y="2939970"/>
            <a:ext cx="429531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1600" b="1" dirty="0">
                <a:solidFill>
                  <a:schemeClr val="bg1">
                    <a:lumMod val="85000"/>
                  </a:schemeClr>
                </a:solidFill>
              </a:rPr>
              <a:t>Developer API (Pay-Per-Run) </a:t>
            </a:r>
            <a:r>
              <a:rPr lang="en-IN" sz="1600" dirty="0">
                <a:solidFill>
                  <a:schemeClr val="bg1">
                    <a:lumMod val="85000"/>
                  </a:schemeClr>
                </a:solidFill>
              </a:rPr>
              <a:t>Charges $0.005 to $0.01 per execution for automated, cryptographically signed test receipts.</a:t>
            </a:r>
          </a:p>
          <a:p>
            <a:pPr lvl="0"/>
            <a:endParaRPr lang="en-IN" sz="1600" dirty="0">
              <a:solidFill>
                <a:schemeClr val="bg1">
                  <a:lumMod val="85000"/>
                </a:schemeClr>
              </a:solidFill>
            </a:endParaRPr>
          </a:p>
          <a:p>
            <a:pPr lvl="0"/>
            <a:r>
              <a:rPr lang="en-IN" sz="1600" b="1" dirty="0">
                <a:solidFill>
                  <a:schemeClr val="bg1">
                    <a:lumMod val="85000"/>
                  </a:schemeClr>
                </a:solidFill>
              </a:rPr>
              <a:t>Enterprise SaaS License ($30K–$75K/yr)</a:t>
            </a:r>
            <a:r>
              <a:rPr lang="en-IN" sz="1600" dirty="0">
                <a:solidFill>
                  <a:schemeClr val="bg1">
                    <a:lumMod val="85000"/>
                  </a:schemeClr>
                </a:solidFill>
              </a:rPr>
              <a:t> Annual subscription for private VPC deployment, custom secret vaults, and compliance exports.</a:t>
            </a:r>
          </a:p>
          <a:p>
            <a:pPr lvl="0"/>
            <a:endParaRPr lang="en-IN" sz="1600" dirty="0">
              <a:solidFill>
                <a:schemeClr val="bg1">
                  <a:lumMod val="85000"/>
                </a:schemeClr>
              </a:solidFill>
            </a:endParaRPr>
          </a:p>
          <a:p>
            <a:pPr lvl="0"/>
            <a:r>
              <a:rPr lang="en-IN" sz="1600" b="1" dirty="0">
                <a:solidFill>
                  <a:schemeClr val="bg1">
                    <a:lumMod val="85000"/>
                  </a:schemeClr>
                </a:solidFill>
              </a:rPr>
              <a:t>Benchmark Certification Fee ($5K–$15K)</a:t>
            </a:r>
            <a:r>
              <a:rPr lang="en-IN" sz="1600" dirty="0">
                <a:solidFill>
                  <a:schemeClr val="bg1">
                    <a:lumMod val="85000"/>
                  </a:schemeClr>
                </a:solidFill>
              </a:rPr>
              <a:t> Flat fee to independently audit and certify official public leaderboard scores for new model releases.</a:t>
            </a:r>
          </a:p>
          <a:p>
            <a:endParaRPr lang="en-IN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4D822C-A226-70B8-F5C4-CA57263E915A}"/>
              </a:ext>
            </a:extLst>
          </p:cNvPr>
          <p:cNvSpPr txBox="1"/>
          <p:nvPr/>
        </p:nvSpPr>
        <p:spPr>
          <a:xfrm>
            <a:off x="222405" y="7567921"/>
            <a:ext cx="12108932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b="1" dirty="0">
                <a:solidFill>
                  <a:schemeClr val="bg1">
                    <a:lumMod val="85000"/>
                  </a:schemeClr>
                </a:solidFill>
              </a:rPr>
              <a:t>Phase 1 — Benchmark Integration (Months 1–6):</a:t>
            </a:r>
            <a:br>
              <a:rPr lang="en-IN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Integrate the core engine into open-source coding benchmarks (like SWE-bench) to independently verify over 50,000 runs and prove zero false passes.</a:t>
            </a:r>
          </a:p>
          <a:p>
            <a:pPr lvl="0"/>
            <a:endParaRPr lang="en-IN" dirty="0">
              <a:solidFill>
                <a:schemeClr val="bg1">
                  <a:lumMod val="85000"/>
                </a:schemeClr>
              </a:solidFill>
            </a:endParaRPr>
          </a:p>
          <a:p>
            <a:pPr lvl="0"/>
            <a:r>
              <a:rPr lang="en-IN" b="1" dirty="0">
                <a:solidFill>
                  <a:schemeClr val="bg1">
                    <a:lumMod val="85000"/>
                  </a:schemeClr>
                </a:solidFill>
              </a:rPr>
              <a:t>Phase 2 — CI/CD &amp; Developer Tooling (Months 6–18):</a:t>
            </a:r>
            <a:br>
              <a:rPr lang="en-IN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Release official GitHub Actions, pre-commit hooks, and Docker sandboxes so developer teams and autonomous agents can run verified tests locally.</a:t>
            </a:r>
          </a:p>
          <a:p>
            <a:pPr lvl="0"/>
            <a:endParaRPr lang="en-IN" dirty="0">
              <a:solidFill>
                <a:schemeClr val="bg1">
                  <a:lumMod val="85000"/>
                </a:schemeClr>
              </a:solidFill>
            </a:endParaRPr>
          </a:p>
          <a:p>
            <a:pPr lvl="0"/>
            <a:r>
              <a:rPr lang="en-IN" b="1" dirty="0">
                <a:solidFill>
                  <a:schemeClr val="bg1">
                    <a:lumMod val="85000"/>
                  </a:schemeClr>
                </a:solidFill>
              </a:rPr>
              <a:t>Phase 3 — Multi-Language Expansion (Months 18–24):</a:t>
            </a:r>
            <a:br>
              <a:rPr lang="en-IN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Expand beyond Python into Rust, Go, and TypeScript sandboxes, allowing teams to test polyglot codebases with the same 5.5 </a:t>
            </a:r>
            <a:r>
              <a:rPr lang="en-IN" dirty="0" err="1">
                <a:solidFill>
                  <a:schemeClr val="bg1">
                    <a:lumMod val="85000"/>
                  </a:schemeClr>
                </a:solidFill>
              </a:rPr>
              <a:t>ms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 verification engine.</a:t>
            </a:r>
          </a:p>
          <a:p>
            <a:pPr lvl="0"/>
            <a:endParaRPr lang="en-IN" dirty="0">
              <a:solidFill>
                <a:schemeClr val="bg1">
                  <a:lumMod val="85000"/>
                </a:schemeClr>
              </a:solidFill>
            </a:endParaRPr>
          </a:p>
          <a:p>
            <a:pPr lvl="0"/>
            <a:r>
              <a:rPr lang="en-IN" b="1" dirty="0">
                <a:solidFill>
                  <a:schemeClr val="bg1">
                    <a:lumMod val="85000"/>
                  </a:schemeClr>
                </a:solidFill>
              </a:rPr>
              <a:t>Phase 4 — Open Verification Protocol (Months 24+):</a:t>
            </a:r>
            <a:br>
              <a:rPr lang="en-IN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Standardize the </a:t>
            </a:r>
            <a:r>
              <a:rPr lang="en-IN" dirty="0" err="1">
                <a:solidFill>
                  <a:schemeClr val="bg1">
                    <a:lumMod val="85000"/>
                  </a:schemeClr>
                </a:solidFill>
              </a:rPr>
              <a:t>Bayora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 receipt format as an open, cross-platform protocol for cryptographic proof of AI code evaluation across the open-source</a:t>
            </a:r>
            <a:endParaRPr lang="en-IN" dirty="0">
              <a:solidFill>
                <a:schemeClr val="bg1">
                  <a:lumMod val="85000"/>
                </a:schemeClr>
              </a:solidFill>
              <a:effectLst/>
            </a:endParaRPr>
          </a:p>
        </p:txBody>
      </p:sp>
      <p:sp>
        <p:nvSpPr>
          <p:cNvPr id="16" name="Google Shape;123;p17">
            <a:extLst>
              <a:ext uri="{FF2B5EF4-FFF2-40B4-BE49-F238E27FC236}">
                <a16:creationId xmlns:a16="http://schemas.microsoft.com/office/drawing/2014/main" id="{B81C6AFF-9D6A-0BA0-37A7-F692D4ADAE55}"/>
              </a:ext>
            </a:extLst>
          </p:cNvPr>
          <p:cNvSpPr txBox="1"/>
          <p:nvPr/>
        </p:nvSpPr>
        <p:spPr>
          <a:xfrm>
            <a:off x="322242" y="6934108"/>
            <a:ext cx="11438558" cy="558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27" b="1" i="0" u="none" strike="noStrike" cap="none" dirty="0">
                <a:solidFill>
                  <a:schemeClr val="bg1"/>
                </a:solidFill>
                <a:latin typeface="Montserrat" panose="00000500000000000000" pitchFamily="2" charset="0"/>
                <a:ea typeface="IBM Plex Sans"/>
                <a:cs typeface="IBM Plex Sans"/>
                <a:sym typeface="IBM Plex Sans"/>
              </a:rPr>
              <a:t>EXPECTED GROWTH</a:t>
            </a:r>
            <a:endParaRPr sz="3027" b="1" i="0" u="none" strike="noStrike" cap="none" dirty="0">
              <a:solidFill>
                <a:schemeClr val="bg1"/>
              </a:solidFill>
              <a:latin typeface="Montserrat" panose="00000500000000000000" pitchFamily="2" charset="0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9E1DC5C-7AFC-74CB-6EEF-1A2CFCE7350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541" t="7859" r="43986" b="14573"/>
          <a:stretch>
            <a:fillRect/>
          </a:stretch>
        </p:blipFill>
        <p:spPr>
          <a:xfrm>
            <a:off x="11672772" y="5924104"/>
            <a:ext cx="4616426" cy="485664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5514039-7928-17AD-4C23-A6B4253041F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3458" t="18354" r="3778" b="16559"/>
          <a:stretch>
            <a:fillRect/>
          </a:stretch>
        </p:blipFill>
        <p:spPr>
          <a:xfrm>
            <a:off x="15793299" y="6567906"/>
            <a:ext cx="2468768" cy="275863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FAED8AB8-DA73-8410-8E95-A943FF5174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0347" y="1536633"/>
            <a:ext cx="1657029" cy="165702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D223340-F0FC-5C55-A6E8-A8159E4E06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52489" y="1467601"/>
            <a:ext cx="1816621" cy="181662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02FDE94-C8E6-42C1-20D5-ECEC102596B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107399" y="1536633"/>
            <a:ext cx="1559630" cy="155963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1C24F8EA-DDFA-DA8A-8041-73813F63DF4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56046" y="6302308"/>
            <a:ext cx="1542660" cy="154266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B8C6F3F-DB75-C84B-B2E8-E802A8D62193}"/>
              </a:ext>
            </a:extLst>
          </p:cNvPr>
          <p:cNvSpPr/>
          <p:nvPr/>
        </p:nvSpPr>
        <p:spPr>
          <a:xfrm>
            <a:off x="13980985" y="8799027"/>
            <a:ext cx="978445" cy="265598"/>
          </a:xfrm>
          <a:prstGeom prst="rect">
            <a:avLst/>
          </a:prstGeom>
          <a:solidFill>
            <a:srgbClr val="C70318"/>
          </a:solidFill>
          <a:ln>
            <a:solidFill>
              <a:srgbClr val="C7031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FDC891-BD69-7402-D5CC-78BBEC655A68}"/>
              </a:ext>
            </a:extLst>
          </p:cNvPr>
          <p:cNvSpPr txBox="1"/>
          <p:nvPr/>
        </p:nvSpPr>
        <p:spPr>
          <a:xfrm>
            <a:off x="14108118" y="8705603"/>
            <a:ext cx="993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74%</a:t>
            </a:r>
            <a:endParaRPr lang="en-IN" sz="35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8"/>
          <p:cNvSpPr txBox="1"/>
          <p:nvPr/>
        </p:nvSpPr>
        <p:spPr>
          <a:xfrm>
            <a:off x="3598817" y="1632214"/>
            <a:ext cx="9064063" cy="1333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95" b="1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FUTURE SCOPE AND SCALING</a:t>
            </a:r>
            <a:endParaRPr dirty="0">
              <a:solidFill>
                <a:schemeClr val="bg1"/>
              </a:solidFill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95" b="1" i="0" u="none" strike="noStrike" cap="none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4" name="Google Shape;134;p18" title="pptn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2BBADCF-A047-7DC9-C0CF-B0BA721691E6}"/>
              </a:ext>
            </a:extLst>
          </p:cNvPr>
          <p:cNvSpPr txBox="1"/>
          <p:nvPr/>
        </p:nvSpPr>
        <p:spPr>
          <a:xfrm>
            <a:off x="548640" y="2612571"/>
            <a:ext cx="1664208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Clr>
                <a:schemeClr val="bg1"/>
              </a:buClr>
              <a:buFont typeface="+mj-lt"/>
              <a:buAutoNum type="arabicPeriod"/>
            </a:pPr>
            <a:r>
              <a:rPr lang="en-IN" sz="1800" b="1" dirty="0">
                <a:solidFill>
                  <a:schemeClr val="bg1">
                    <a:lumMod val="85000"/>
                  </a:schemeClr>
                </a:solidFill>
              </a:rPr>
              <a:t>Hardware-Enclave Sandboxes (Confidential Computing)</a:t>
            </a:r>
            <a:br>
              <a:rPr lang="en-IN" sz="18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en-IN" sz="1800" i="1" dirty="0">
                <a:solidFill>
                  <a:schemeClr val="bg1">
                    <a:lumMod val="85000"/>
                  </a:schemeClr>
                </a:solidFill>
              </a:rPr>
              <a:t>Upgrading software memory cleanrooms into hardware-isolated CPU enclaves (Intel SGX) so even cloud hosts cannot tamper with or inspect private test runs.</a:t>
            </a:r>
          </a:p>
          <a:p>
            <a:pPr marL="342900" lvl="0" indent="-342900">
              <a:buClr>
                <a:schemeClr val="bg1"/>
              </a:buClr>
              <a:buFont typeface="+mj-lt"/>
              <a:buAutoNum type="arabicPeriod"/>
            </a:pPr>
            <a:endParaRPr lang="en-IN" sz="1800" dirty="0">
              <a:solidFill>
                <a:schemeClr val="bg1">
                  <a:lumMod val="85000"/>
                </a:schemeClr>
              </a:solidFill>
            </a:endParaRPr>
          </a:p>
          <a:p>
            <a:pPr marL="342900" lvl="0" indent="-342900">
              <a:buClr>
                <a:schemeClr val="bg1"/>
              </a:buClr>
              <a:buFont typeface="+mj-lt"/>
              <a:buAutoNum type="arabicPeriod"/>
            </a:pPr>
            <a:r>
              <a:rPr lang="en-IN" sz="1800" b="1" dirty="0">
                <a:solidFill>
                  <a:schemeClr val="bg1">
                    <a:lumMod val="85000"/>
                  </a:schemeClr>
                </a:solidFill>
              </a:rPr>
              <a:t>Polyglot &amp; Multi-Language Sandboxes</a:t>
            </a:r>
            <a:br>
              <a:rPr lang="en-IN" sz="18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en-IN" sz="1800" i="1" dirty="0">
                <a:solidFill>
                  <a:schemeClr val="bg1">
                    <a:lumMod val="85000"/>
                  </a:schemeClr>
                </a:solidFill>
              </a:rPr>
              <a:t>Expanding the 5.5 </a:t>
            </a:r>
            <a:r>
              <a:rPr lang="en-IN" sz="1800" i="1" dirty="0" err="1">
                <a:solidFill>
                  <a:schemeClr val="bg1">
                    <a:lumMod val="85000"/>
                  </a:schemeClr>
                </a:solidFill>
              </a:rPr>
              <a:t>ms</a:t>
            </a:r>
            <a:r>
              <a:rPr lang="en-IN" sz="1800" i="1" dirty="0">
                <a:solidFill>
                  <a:schemeClr val="bg1">
                    <a:lumMod val="85000"/>
                  </a:schemeClr>
                </a:solidFill>
              </a:rPr>
              <a:t> verification engine beyond Python to Rust, Go, TypeScript, and </a:t>
            </a:r>
            <a:r>
              <a:rPr lang="en-IN" sz="1800" i="1" dirty="0" err="1">
                <a:solidFill>
                  <a:schemeClr val="bg1">
                    <a:lumMod val="85000"/>
                  </a:schemeClr>
                </a:solidFill>
              </a:rPr>
              <a:t>WebAssembly</a:t>
            </a:r>
            <a:r>
              <a:rPr lang="en-IN" sz="1800" i="1" dirty="0">
                <a:solidFill>
                  <a:schemeClr val="bg1">
                    <a:lumMod val="85000"/>
                  </a:schemeClr>
                </a:solidFill>
              </a:rPr>
              <a:t> for full-stack autonomous agent codebases.</a:t>
            </a:r>
          </a:p>
          <a:p>
            <a:pPr marL="342900" lvl="0" indent="-342900">
              <a:buClr>
                <a:schemeClr val="bg1"/>
              </a:buClr>
              <a:buFont typeface="+mj-lt"/>
              <a:buAutoNum type="arabicPeriod"/>
            </a:pPr>
            <a:endParaRPr lang="en-IN" sz="1800" dirty="0">
              <a:solidFill>
                <a:schemeClr val="bg1">
                  <a:lumMod val="85000"/>
                </a:schemeClr>
              </a:solidFill>
            </a:endParaRPr>
          </a:p>
          <a:p>
            <a:pPr marL="342900" lvl="0" indent="-342900">
              <a:buClr>
                <a:schemeClr val="bg1"/>
              </a:buClr>
              <a:buFont typeface="+mj-lt"/>
              <a:buAutoNum type="arabicPeriod"/>
            </a:pPr>
            <a:r>
              <a:rPr lang="en-IN" sz="1800" b="1" dirty="0">
                <a:solidFill>
                  <a:schemeClr val="bg1">
                    <a:lumMod val="85000"/>
                  </a:schemeClr>
                </a:solidFill>
              </a:rPr>
              <a:t>Enterprise CI/CD Gateways (Agent Firewalls)</a:t>
            </a:r>
            <a:br>
              <a:rPr lang="en-IN" sz="18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en-IN" sz="1800" i="1" dirty="0">
                <a:solidFill>
                  <a:schemeClr val="bg1">
                    <a:lumMod val="85000"/>
                  </a:schemeClr>
                </a:solidFill>
              </a:rPr>
              <a:t>Native GitHub Actions and Kubernetes admission controllers that automatically block AI-generated PRs from merging without a valid </a:t>
            </a:r>
            <a:r>
              <a:rPr lang="en-IN" sz="1800" i="1" dirty="0" err="1">
                <a:solidFill>
                  <a:schemeClr val="bg1">
                    <a:lumMod val="85000"/>
                  </a:schemeClr>
                </a:solidFill>
              </a:rPr>
              <a:t>Bayora</a:t>
            </a:r>
            <a:r>
              <a:rPr lang="en-IN" sz="1800" i="1" dirty="0">
                <a:solidFill>
                  <a:schemeClr val="bg1">
                    <a:lumMod val="85000"/>
                  </a:schemeClr>
                </a:solidFill>
              </a:rPr>
              <a:t> digital signature.</a:t>
            </a:r>
          </a:p>
          <a:p>
            <a:pPr marL="342900" lvl="0" indent="-342900">
              <a:buClr>
                <a:schemeClr val="bg1"/>
              </a:buClr>
              <a:buFont typeface="+mj-lt"/>
              <a:buAutoNum type="arabicPeriod"/>
            </a:pPr>
            <a:endParaRPr lang="en-IN" sz="1800" dirty="0">
              <a:solidFill>
                <a:schemeClr val="bg1">
                  <a:lumMod val="85000"/>
                </a:schemeClr>
              </a:solidFill>
            </a:endParaRPr>
          </a:p>
          <a:p>
            <a:pPr marL="342900" lvl="0" indent="-342900">
              <a:buClr>
                <a:schemeClr val="bg1"/>
              </a:buClr>
              <a:buFont typeface="+mj-lt"/>
              <a:buAutoNum type="arabicPeriod"/>
            </a:pPr>
            <a:r>
              <a:rPr lang="en-IN" sz="1800" b="1" dirty="0">
                <a:solidFill>
                  <a:schemeClr val="bg1">
                    <a:lumMod val="85000"/>
                  </a:schemeClr>
                </a:solidFill>
              </a:rPr>
              <a:t>Decentralized Multi-Node Leaderboards</a:t>
            </a:r>
            <a:br>
              <a:rPr lang="en-IN" sz="18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en-IN" sz="1800" i="1" dirty="0">
                <a:solidFill>
                  <a:schemeClr val="bg1">
                    <a:lumMod val="85000"/>
                  </a:schemeClr>
                </a:solidFill>
              </a:rPr>
              <a:t>Enabling independent nodes to cross-verify model submissions in parallel, eliminating vendor bias and creating a tamper-proof global benchmark standard.</a:t>
            </a:r>
          </a:p>
          <a:p>
            <a:pPr marL="342900" lvl="0" indent="-342900">
              <a:buClr>
                <a:schemeClr val="bg1"/>
              </a:buClr>
              <a:buFont typeface="+mj-lt"/>
              <a:buAutoNum type="arabicPeriod"/>
            </a:pPr>
            <a:endParaRPr lang="en-IN" sz="1800" dirty="0">
              <a:solidFill>
                <a:schemeClr val="bg1">
                  <a:lumMod val="85000"/>
                </a:schemeClr>
              </a:solidFill>
            </a:endParaRPr>
          </a:p>
          <a:p>
            <a:pPr marL="342900" lvl="0" indent="-342900">
              <a:buClr>
                <a:schemeClr val="bg1"/>
              </a:buClr>
              <a:buFont typeface="+mj-lt"/>
              <a:buAutoNum type="arabicPeriod"/>
            </a:pPr>
            <a:r>
              <a:rPr lang="en-IN" sz="1800" b="1" dirty="0">
                <a:solidFill>
                  <a:schemeClr val="bg1">
                    <a:lumMod val="85000"/>
                  </a:schemeClr>
                </a:solidFill>
              </a:rPr>
              <a:t>Global Open Protocol:</a:t>
            </a:r>
            <a:r>
              <a:rPr lang="en-IN" sz="1800" dirty="0">
                <a:solidFill>
                  <a:schemeClr val="bg1">
                    <a:lumMod val="85000"/>
                  </a:schemeClr>
                </a:solidFill>
              </a:rPr>
              <a:t> Establishing an open, multi-region standard for cryptographic AI test receipts across the global dev community.</a:t>
            </a:r>
          </a:p>
          <a:p>
            <a:pPr marL="342900" indent="-342900">
              <a:buClr>
                <a:schemeClr val="bg1"/>
              </a:buClr>
              <a:buFont typeface="+mj-lt"/>
              <a:buAutoNum type="arabicPeriod"/>
            </a:pPr>
            <a:endParaRPr lang="en-IN" sz="18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3" name="Google Shape;130;p18">
            <a:extLst>
              <a:ext uri="{FF2B5EF4-FFF2-40B4-BE49-F238E27FC236}">
                <a16:creationId xmlns:a16="http://schemas.microsoft.com/office/drawing/2014/main" id="{7F1A4901-1FCB-6964-130D-F44EBFAE67F7}"/>
              </a:ext>
            </a:extLst>
          </p:cNvPr>
          <p:cNvSpPr txBox="1"/>
          <p:nvPr/>
        </p:nvSpPr>
        <p:spPr>
          <a:xfrm>
            <a:off x="-822961" y="6505599"/>
            <a:ext cx="9064063" cy="666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95" b="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RUNNING COST</a:t>
            </a:r>
            <a:endParaRPr sz="3095" b="1" i="0" u="none" strike="noStrike" cap="none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0D6BC1-A7CE-EEA9-5090-979099117329}"/>
              </a:ext>
            </a:extLst>
          </p:cNvPr>
          <p:cNvSpPr txBox="1"/>
          <p:nvPr/>
        </p:nvSpPr>
        <p:spPr>
          <a:xfrm>
            <a:off x="548640" y="7409167"/>
            <a:ext cx="8154797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lvl="0" indent="-342900">
              <a:buClr>
                <a:schemeClr val="bg1"/>
              </a:buClr>
              <a:buFont typeface="+mj-lt"/>
              <a:buAutoNum type="arabicPeriod"/>
            </a:pPr>
            <a:r>
              <a:rPr lang="en-IN" sz="1600" b="1" dirty="0">
                <a:solidFill>
                  <a:schemeClr val="bg1">
                    <a:lumMod val="85000"/>
                  </a:schemeClr>
                </a:solidFill>
              </a:rPr>
              <a:t>Zero External API Costs ($0.00):</a:t>
            </a:r>
            <a:br>
              <a:rPr lang="en-IN" sz="16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en-IN" sz="1600" dirty="0">
                <a:solidFill>
                  <a:schemeClr val="bg1">
                    <a:lumMod val="85000"/>
                  </a:schemeClr>
                </a:solidFill>
              </a:rPr>
              <a:t>No LLM token bills. 100% local, offline cryptographic verification.</a:t>
            </a:r>
          </a:p>
          <a:p>
            <a:pPr marL="342900" lvl="0" indent="-342900">
              <a:buClr>
                <a:schemeClr val="bg1"/>
              </a:buClr>
              <a:buFont typeface="+mj-lt"/>
              <a:buAutoNum type="arabicPeriod"/>
            </a:pPr>
            <a:endParaRPr lang="en-IN" sz="1600" dirty="0">
              <a:solidFill>
                <a:schemeClr val="bg1">
                  <a:lumMod val="85000"/>
                </a:schemeClr>
              </a:solidFill>
            </a:endParaRPr>
          </a:p>
          <a:p>
            <a:pPr marL="342900" lvl="0" indent="-342900">
              <a:buClr>
                <a:schemeClr val="bg1"/>
              </a:buClr>
              <a:buFont typeface="+mj-lt"/>
              <a:buAutoNum type="arabicPeriod"/>
            </a:pPr>
            <a:r>
              <a:rPr lang="en-IN" sz="1600" b="1" dirty="0">
                <a:solidFill>
                  <a:schemeClr val="bg1">
                    <a:lumMod val="85000"/>
                  </a:schemeClr>
                </a:solidFill>
              </a:rPr>
              <a:t>Microscopic Compute Cost (~$0.00008 / run):</a:t>
            </a:r>
            <a:br>
              <a:rPr lang="en-IN" sz="16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en-IN" sz="1600" dirty="0">
                <a:solidFill>
                  <a:schemeClr val="bg1">
                    <a:lumMod val="85000"/>
                  </a:schemeClr>
                </a:solidFill>
              </a:rPr>
              <a:t>Consumes just ~5.5 </a:t>
            </a:r>
            <a:r>
              <a:rPr lang="en-IN" sz="1600" dirty="0" err="1">
                <a:solidFill>
                  <a:schemeClr val="bg1">
                    <a:lumMod val="85000"/>
                  </a:schemeClr>
                </a:solidFill>
              </a:rPr>
              <a:t>ms</a:t>
            </a:r>
            <a:r>
              <a:rPr lang="en-IN" sz="1600" dirty="0">
                <a:solidFill>
                  <a:schemeClr val="bg1">
                    <a:lumMod val="85000"/>
                  </a:schemeClr>
                </a:solidFill>
              </a:rPr>
              <a:t> of standard CPU time per execution.</a:t>
            </a:r>
          </a:p>
          <a:p>
            <a:pPr marL="342900" lvl="0" indent="-342900">
              <a:buClr>
                <a:schemeClr val="bg1"/>
              </a:buClr>
              <a:buFont typeface="+mj-lt"/>
              <a:buAutoNum type="arabicPeriod"/>
            </a:pPr>
            <a:endParaRPr lang="en-IN" sz="1600" dirty="0">
              <a:solidFill>
                <a:schemeClr val="bg1">
                  <a:lumMod val="85000"/>
                </a:schemeClr>
              </a:solidFill>
            </a:endParaRPr>
          </a:p>
          <a:p>
            <a:pPr marL="342900" lvl="0" indent="-342900">
              <a:buClr>
                <a:schemeClr val="bg1"/>
              </a:buClr>
              <a:buFont typeface="+mj-lt"/>
              <a:buAutoNum type="arabicPeriod"/>
            </a:pPr>
            <a:r>
              <a:rPr lang="en-IN" sz="1600" b="1" dirty="0">
                <a:solidFill>
                  <a:schemeClr val="bg1">
                    <a:lumMod val="85000"/>
                  </a:schemeClr>
                </a:solidFill>
              </a:rPr>
              <a:t>95%+ Gross Margins:</a:t>
            </a:r>
            <a:br>
              <a:rPr lang="en-IN" sz="16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en-IN" sz="1600" dirty="0">
                <a:solidFill>
                  <a:schemeClr val="bg1">
                    <a:lumMod val="85000"/>
                  </a:schemeClr>
                </a:solidFill>
              </a:rPr>
              <a:t>At $0.005 charged per run vs. $0.00008 compute cost, economics scale effortlessly.</a:t>
            </a:r>
          </a:p>
          <a:p>
            <a:pPr marL="342900" lvl="0" indent="-342900">
              <a:buClr>
                <a:schemeClr val="bg1"/>
              </a:buClr>
              <a:buFont typeface="+mj-lt"/>
              <a:buAutoNum type="arabicPeriod"/>
            </a:pPr>
            <a:endParaRPr lang="en-IN" sz="1600" dirty="0">
              <a:solidFill>
                <a:schemeClr val="bg1">
                  <a:lumMod val="85000"/>
                </a:schemeClr>
              </a:solidFill>
            </a:endParaRPr>
          </a:p>
          <a:p>
            <a:pPr marL="342900" lvl="0" indent="-342900">
              <a:buClr>
                <a:schemeClr val="bg1"/>
              </a:buClr>
              <a:buFont typeface="+mj-lt"/>
              <a:buAutoNum type="arabicPeriod"/>
            </a:pPr>
            <a:r>
              <a:rPr lang="en-IN" sz="1600" b="1" dirty="0">
                <a:solidFill>
                  <a:schemeClr val="bg1">
                    <a:lumMod val="85000"/>
                  </a:schemeClr>
                </a:solidFill>
              </a:rPr>
              <a:t>Low Infrastructure Burn (~$150 / month):</a:t>
            </a:r>
            <a:br>
              <a:rPr lang="en-IN" sz="16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en-IN" sz="1600" dirty="0">
                <a:solidFill>
                  <a:schemeClr val="bg1">
                    <a:lumMod val="85000"/>
                  </a:schemeClr>
                </a:solidFill>
              </a:rPr>
              <a:t>Handles 1,000,000 verified runs/month on 3 basic load-balanced CPU nodes.</a:t>
            </a:r>
          </a:p>
          <a:p>
            <a:pPr marL="342900" indent="-342900">
              <a:buClr>
                <a:schemeClr val="bg1"/>
              </a:buClr>
              <a:buFont typeface="+mj-lt"/>
              <a:buAutoNum type="arabicPeriod"/>
            </a:pPr>
            <a:endParaRPr lang="en-IN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7" name="Google Shape;130;p18">
            <a:extLst>
              <a:ext uri="{FF2B5EF4-FFF2-40B4-BE49-F238E27FC236}">
                <a16:creationId xmlns:a16="http://schemas.microsoft.com/office/drawing/2014/main" id="{2DE3EFBE-76FD-B8C8-6D81-FF9ECE82DEE6}"/>
              </a:ext>
            </a:extLst>
          </p:cNvPr>
          <p:cNvSpPr txBox="1"/>
          <p:nvPr/>
        </p:nvSpPr>
        <p:spPr>
          <a:xfrm>
            <a:off x="8407145" y="6570703"/>
            <a:ext cx="9064063" cy="666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95" b="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FEASIBILITY</a:t>
            </a:r>
            <a:endParaRPr sz="3095" b="1" i="0" u="none" strike="noStrike" cap="none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B94646-8DD0-6479-8337-FE1526513389}"/>
              </a:ext>
            </a:extLst>
          </p:cNvPr>
          <p:cNvSpPr txBox="1"/>
          <p:nvPr/>
        </p:nvSpPr>
        <p:spPr>
          <a:xfrm>
            <a:off x="9277225" y="7737089"/>
            <a:ext cx="791349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Clr>
                <a:schemeClr val="bg1"/>
              </a:buClr>
              <a:buFont typeface="+mj-lt"/>
              <a:buAutoNum type="arabicPeriod"/>
            </a:pPr>
            <a:r>
              <a:rPr lang="en-IN" sz="1800" b="1" dirty="0">
                <a:solidFill>
                  <a:schemeClr val="bg1">
                    <a:lumMod val="85000"/>
                  </a:schemeClr>
                </a:solidFill>
              </a:rPr>
              <a:t>Technical Feasibility</a:t>
            </a:r>
            <a:br>
              <a:rPr lang="en-IN" sz="18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en-IN" sz="1800" dirty="0">
                <a:solidFill>
                  <a:schemeClr val="bg1">
                    <a:lumMod val="85000"/>
                  </a:schemeClr>
                </a:solidFill>
              </a:rPr>
              <a:t>Runs on basic commodity CPUs (x86_64 / ARM64). Zero expensive H100 GPU clusters needed.</a:t>
            </a:r>
          </a:p>
          <a:p>
            <a:pPr marL="342900" lvl="0" indent="-342900">
              <a:buClr>
                <a:schemeClr val="bg1"/>
              </a:buClr>
              <a:buFont typeface="+mj-lt"/>
              <a:buAutoNum type="arabicPeriod"/>
            </a:pPr>
            <a:endParaRPr lang="en-IN" sz="1800" dirty="0">
              <a:solidFill>
                <a:schemeClr val="bg1">
                  <a:lumMod val="85000"/>
                </a:schemeClr>
              </a:solidFill>
            </a:endParaRPr>
          </a:p>
          <a:p>
            <a:pPr marL="342900" lvl="0" indent="-342900">
              <a:buClr>
                <a:schemeClr val="bg1"/>
              </a:buClr>
              <a:buFont typeface="+mj-lt"/>
              <a:buAutoNum type="arabicPeriod"/>
            </a:pPr>
            <a:r>
              <a:rPr lang="en-IN" sz="1800" b="1" dirty="0">
                <a:solidFill>
                  <a:schemeClr val="bg1">
                    <a:lumMod val="85000"/>
                  </a:schemeClr>
                </a:solidFill>
              </a:rPr>
              <a:t>Operational Feasibility:</a:t>
            </a:r>
            <a:br>
              <a:rPr lang="en-IN" sz="18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en-IN" sz="1800" dirty="0">
                <a:solidFill>
                  <a:schemeClr val="bg1">
                    <a:lumMod val="85000"/>
                  </a:schemeClr>
                </a:solidFill>
              </a:rPr>
              <a:t>Drop-in replacement for standard runners (</a:t>
            </a:r>
            <a:r>
              <a:rPr lang="en-IN" sz="1800" dirty="0" err="1">
                <a:solidFill>
                  <a:schemeClr val="bg1">
                    <a:lumMod val="85000"/>
                  </a:schemeClr>
                </a:solidFill>
              </a:rPr>
              <a:t>bayora</a:t>
            </a:r>
            <a:r>
              <a:rPr lang="en-IN" sz="1800" dirty="0">
                <a:solidFill>
                  <a:schemeClr val="bg1">
                    <a:lumMod val="85000"/>
                  </a:schemeClr>
                </a:solidFill>
              </a:rPr>
              <a:t> run) via a lightweight CLI, GitHub Action, or Docker image.</a:t>
            </a:r>
          </a:p>
          <a:p>
            <a:pPr marL="342900" lvl="0" indent="-342900">
              <a:buClr>
                <a:schemeClr val="bg1"/>
              </a:buClr>
              <a:buFont typeface="+mj-lt"/>
              <a:buAutoNum type="arabicPeriod"/>
            </a:pPr>
            <a:endParaRPr lang="en-IN" sz="1800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CF47915-3DF2-1641-A333-A32AB14DBF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6517" y="6108062"/>
            <a:ext cx="1883283" cy="1883283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7A55E924-51EA-9493-5F89-D27A7A065E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34481" y="6087472"/>
            <a:ext cx="2081819" cy="2081819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F9052026-8F8B-4FDB-87F7-0253880C3B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83252" y="812531"/>
            <a:ext cx="2230319" cy="223031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 txBox="1"/>
          <p:nvPr/>
        </p:nvSpPr>
        <p:spPr>
          <a:xfrm>
            <a:off x="960536" y="1226057"/>
            <a:ext cx="16104203" cy="1333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95" b="1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CHALLENGES, BOTTLENECKS AND HOW WE SOLVED THEM?</a:t>
            </a:r>
            <a:endParaRPr dirty="0">
              <a:solidFill>
                <a:schemeClr val="bg1"/>
              </a:solidFill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95" b="1" i="0" u="none" strike="noStrike" cap="none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40" name="Google Shape;140;p19"/>
          <p:cNvGrpSpPr/>
          <p:nvPr/>
        </p:nvGrpSpPr>
        <p:grpSpPr>
          <a:xfrm>
            <a:off x="2196451" y="2405409"/>
            <a:ext cx="11438558" cy="2738091"/>
            <a:chOff x="0" y="0"/>
            <a:chExt cx="15251410" cy="3650789"/>
          </a:xfrm>
        </p:grpSpPr>
        <p:sp>
          <p:nvSpPr>
            <p:cNvPr id="141" name="Google Shape;141;p19"/>
            <p:cNvSpPr txBox="1"/>
            <p:nvPr/>
          </p:nvSpPr>
          <p:spPr>
            <a:xfrm>
              <a:off x="0" y="0"/>
              <a:ext cx="15251399" cy="745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027" b="0" i="0" u="none" strike="noStrike" cap="none" dirty="0">
                <a:solidFill>
                  <a:schemeClr val="bg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42" name="Google Shape;142;p19"/>
            <p:cNvSpPr txBox="1"/>
            <p:nvPr/>
          </p:nvSpPr>
          <p:spPr>
            <a:xfrm>
              <a:off x="1222710" y="3075840"/>
              <a:ext cx="14028700" cy="5749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85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43" name="Google Shape;143;p19" title="pptn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E0DBA99-C768-37F1-6102-527A2F972476}"/>
              </a:ext>
            </a:extLst>
          </p:cNvPr>
          <p:cNvSpPr txBox="1"/>
          <p:nvPr/>
        </p:nvSpPr>
        <p:spPr>
          <a:xfrm>
            <a:off x="1649350" y="2072345"/>
            <a:ext cx="14084300" cy="784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b="1" dirty="0">
                <a:solidFill>
                  <a:schemeClr val="bg1">
                    <a:lumMod val="85000"/>
                  </a:schemeClr>
                </a:solidFill>
              </a:rPr>
              <a:t>1</a:t>
            </a:r>
            <a:r>
              <a:rPr lang="en-IN" sz="1800" b="1" dirty="0">
                <a:solidFill>
                  <a:schemeClr val="bg1">
                    <a:lumMod val="85000"/>
                  </a:schemeClr>
                </a:solidFill>
                <a:effectLst/>
              </a:rPr>
              <a:t>. The Latency Bottleneck: Heavy Cryptography vs. Real-Time CI/CD</a:t>
            </a:r>
            <a:endParaRPr lang="en-IN" sz="1800" b="1" dirty="0">
              <a:solidFill>
                <a:schemeClr val="bg1">
                  <a:lumMod val="85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chemeClr val="bg1">
                    <a:lumMod val="85000"/>
                  </a:schemeClr>
                </a:solidFill>
                <a:effectLst/>
              </a:rPr>
              <a:t>The Challenge:</a:t>
            </a:r>
            <a:r>
              <a:rPr lang="en-IN" sz="1800" dirty="0">
                <a:solidFill>
                  <a:schemeClr val="bg1">
                    <a:lumMod val="85000"/>
                  </a:schemeClr>
                </a:solidFill>
                <a:effectLst/>
              </a:rPr>
              <a:t> Adding digital signatures, SHA-256 state hashing, and memory scans to every test execution risks adding 50–100+ </a:t>
            </a:r>
            <a:r>
              <a:rPr lang="en-IN" sz="1800" dirty="0" err="1">
                <a:solidFill>
                  <a:schemeClr val="bg1">
                    <a:lumMod val="85000"/>
                  </a:schemeClr>
                </a:solidFill>
                <a:effectLst/>
              </a:rPr>
              <a:t>ms</a:t>
            </a:r>
            <a:r>
              <a:rPr lang="en-IN" sz="1800" dirty="0">
                <a:solidFill>
                  <a:schemeClr val="bg1">
                    <a:lumMod val="85000"/>
                  </a:schemeClr>
                </a:solidFill>
                <a:effectLst/>
              </a:rPr>
              <a:t> of lag, which would make CI/CD pipelines sluggish.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chemeClr val="bg1">
                    <a:lumMod val="85000"/>
                  </a:schemeClr>
                </a:solidFill>
                <a:effectLst/>
              </a:rPr>
              <a:t>The Solution:</a:t>
            </a:r>
            <a:r>
              <a:rPr lang="en-IN" sz="1800" dirty="0">
                <a:solidFill>
                  <a:schemeClr val="bg1">
                    <a:lumMod val="85000"/>
                  </a:schemeClr>
                </a:solidFill>
                <a:effectLst/>
              </a:rPr>
              <a:t> Implemented C-accelerated cryptographic primitives (Open SSL) and byte-level streaming.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chemeClr val="bg1">
                    <a:lumMod val="85000"/>
                  </a:schemeClr>
                </a:solidFill>
                <a:effectLst/>
              </a:rPr>
              <a:t>Outcome:</a:t>
            </a:r>
            <a:r>
              <a:rPr lang="en-IN" sz="1800" dirty="0">
                <a:solidFill>
                  <a:schemeClr val="bg1">
                    <a:lumMod val="85000"/>
                  </a:schemeClr>
                </a:solidFill>
                <a:effectLst/>
              </a:rPr>
              <a:t> Squeezed the entire verification pipeline down to a median of </a:t>
            </a:r>
            <a:r>
              <a:rPr lang="en-IN" sz="1800" b="1" dirty="0">
                <a:solidFill>
                  <a:schemeClr val="bg1">
                    <a:lumMod val="85000"/>
                  </a:schemeClr>
                </a:solidFill>
                <a:effectLst/>
              </a:rPr>
              <a:t>~5.5 </a:t>
            </a:r>
            <a:r>
              <a:rPr lang="en-IN" sz="1800" b="1" dirty="0" err="1">
                <a:solidFill>
                  <a:schemeClr val="bg1">
                    <a:lumMod val="85000"/>
                  </a:schemeClr>
                </a:solidFill>
                <a:effectLst/>
              </a:rPr>
              <a:t>ms</a:t>
            </a:r>
            <a:r>
              <a:rPr lang="en-IN" sz="1800" dirty="0">
                <a:solidFill>
                  <a:schemeClr val="bg1">
                    <a:lumMod val="85000"/>
                  </a:schemeClr>
                </a:solidFill>
                <a:effectLst/>
              </a:rPr>
              <a:t> (&lt; 0.05% runtime overhead).</a:t>
            </a:r>
          </a:p>
          <a:p>
            <a:pPr>
              <a:buNone/>
            </a:pPr>
            <a:br>
              <a:rPr lang="en-IN" sz="1800" dirty="0">
                <a:solidFill>
                  <a:schemeClr val="bg1">
                    <a:lumMod val="85000"/>
                  </a:schemeClr>
                </a:solidFill>
              </a:rPr>
            </a:br>
            <a:endParaRPr lang="en-IN" sz="1800" dirty="0">
              <a:solidFill>
                <a:schemeClr val="bg1">
                  <a:lumMod val="85000"/>
                </a:schemeClr>
              </a:solidFill>
            </a:endParaRPr>
          </a:p>
          <a:p>
            <a:pPr>
              <a:buNone/>
            </a:pPr>
            <a:r>
              <a:rPr lang="en-IN" sz="1800" b="1" dirty="0">
                <a:solidFill>
                  <a:schemeClr val="bg1">
                    <a:lumMod val="85000"/>
                  </a:schemeClr>
                </a:solidFill>
                <a:effectLst/>
              </a:rPr>
              <a:t>2. The Non-Determinism Trap: Deterministic Hashing on Dynamic Outputs</a:t>
            </a:r>
            <a:endParaRPr lang="en-IN" sz="1800" b="1" dirty="0">
              <a:solidFill>
                <a:schemeClr val="bg1">
                  <a:lumMod val="85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chemeClr val="bg1">
                    <a:lumMod val="85000"/>
                  </a:schemeClr>
                </a:solidFill>
                <a:effectLst/>
              </a:rPr>
              <a:t>The Challenge:</a:t>
            </a:r>
            <a:r>
              <a:rPr lang="en-IN" sz="1800" dirty="0">
                <a:solidFill>
                  <a:schemeClr val="bg1">
                    <a:lumMod val="85000"/>
                  </a:schemeClr>
                </a:solidFill>
                <a:effectLst/>
              </a:rPr>
              <a:t> Python dictionaries, </a:t>
            </a:r>
            <a:r>
              <a:rPr lang="en-IN" sz="1800" dirty="0" err="1">
                <a:solidFill>
                  <a:schemeClr val="bg1">
                    <a:lumMod val="85000"/>
                  </a:schemeClr>
                </a:solidFill>
                <a:effectLst/>
              </a:rPr>
              <a:t>stdout</a:t>
            </a:r>
            <a:r>
              <a:rPr lang="en-IN" sz="1800" dirty="0">
                <a:solidFill>
                  <a:schemeClr val="bg1">
                    <a:lumMod val="85000"/>
                  </a:schemeClr>
                </a:solidFill>
                <a:effectLst/>
              </a:rPr>
              <a:t> buffering, timestamp variations, and floating-point outputs are non-deterministic. A difference of even a single whitespace or key order changes the hash completely, causing false rejections.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chemeClr val="bg1">
                    <a:lumMod val="85000"/>
                  </a:schemeClr>
                </a:solidFill>
                <a:effectLst/>
              </a:rPr>
              <a:t>The Solution:</a:t>
            </a:r>
            <a:r>
              <a:rPr lang="en-IN" sz="1800" dirty="0">
                <a:solidFill>
                  <a:schemeClr val="bg1">
                    <a:lumMod val="85000"/>
                  </a:schemeClr>
                </a:solidFill>
                <a:effectLst/>
              </a:rPr>
              <a:t> Adopted the </a:t>
            </a:r>
            <a:r>
              <a:rPr lang="en-IN" sz="1800" b="1" dirty="0">
                <a:solidFill>
                  <a:schemeClr val="bg1">
                    <a:lumMod val="85000"/>
                  </a:schemeClr>
                </a:solidFill>
                <a:effectLst/>
              </a:rPr>
              <a:t>RFC 8785 Canonical JSON Specification</a:t>
            </a:r>
            <a:r>
              <a:rPr lang="en-IN" sz="1800" dirty="0">
                <a:solidFill>
                  <a:schemeClr val="bg1">
                    <a:lumMod val="85000"/>
                  </a:schemeClr>
                </a:solidFill>
                <a:effectLst/>
              </a:rPr>
              <a:t> to strictly normalize dictionary ordering, line breaks, and stream buffers before hash-chaining.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chemeClr val="bg1">
                    <a:lumMod val="85000"/>
                  </a:schemeClr>
                </a:solidFill>
                <a:effectLst/>
              </a:rPr>
              <a:t>Outcome:</a:t>
            </a:r>
            <a:r>
              <a:rPr lang="en-IN" sz="1800" dirty="0">
                <a:solidFill>
                  <a:schemeClr val="bg1">
                    <a:lumMod val="85000"/>
                  </a:schemeClr>
                </a:solidFill>
                <a:effectLst/>
              </a:rPr>
              <a:t> 100% deterministic, tamper-proof logs across different machines without breaking valid runs.</a:t>
            </a:r>
          </a:p>
          <a:p>
            <a:pPr>
              <a:buNone/>
            </a:pPr>
            <a:br>
              <a:rPr lang="en-IN" sz="1800" dirty="0">
                <a:solidFill>
                  <a:schemeClr val="bg1">
                    <a:lumMod val="85000"/>
                  </a:schemeClr>
                </a:solidFill>
              </a:rPr>
            </a:br>
            <a:endParaRPr lang="en-IN" sz="1800" dirty="0">
              <a:solidFill>
                <a:schemeClr val="bg1">
                  <a:lumMod val="85000"/>
                </a:schemeClr>
              </a:solidFill>
            </a:endParaRPr>
          </a:p>
          <a:p>
            <a:pPr>
              <a:buNone/>
            </a:pPr>
            <a:r>
              <a:rPr lang="en-IN" sz="1800" b="1" dirty="0">
                <a:solidFill>
                  <a:schemeClr val="bg1">
                    <a:lumMod val="85000"/>
                  </a:schemeClr>
                </a:solidFill>
                <a:effectLst/>
              </a:rPr>
              <a:t>3. The Sandbox Dilemma: Heavy VMs vs. Lightweight Process Isolation</a:t>
            </a:r>
            <a:endParaRPr lang="en-IN" sz="1800" b="1" dirty="0">
              <a:solidFill>
                <a:schemeClr val="bg1">
                  <a:lumMod val="85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chemeClr val="bg1">
                    <a:lumMod val="85000"/>
                  </a:schemeClr>
                </a:solidFill>
                <a:effectLst/>
              </a:rPr>
              <a:t>The Challenge:</a:t>
            </a:r>
            <a:r>
              <a:rPr lang="en-IN" sz="1800" dirty="0">
                <a:solidFill>
                  <a:schemeClr val="bg1">
                    <a:lumMod val="85000"/>
                  </a:schemeClr>
                </a:solidFill>
                <a:effectLst/>
              </a:rPr>
              <a:t> Full virtual machines or Docker containers take 500 </a:t>
            </a:r>
            <a:r>
              <a:rPr lang="en-IN" sz="1800" dirty="0" err="1">
                <a:solidFill>
                  <a:schemeClr val="bg1">
                    <a:lumMod val="85000"/>
                  </a:schemeClr>
                </a:solidFill>
                <a:effectLst/>
              </a:rPr>
              <a:t>ms</a:t>
            </a:r>
            <a:r>
              <a:rPr lang="en-IN" sz="1800" dirty="0">
                <a:solidFill>
                  <a:schemeClr val="bg1">
                    <a:lumMod val="85000"/>
                  </a:schemeClr>
                </a:solidFill>
                <a:effectLst/>
              </a:rPr>
              <a:t> to 3,000 </a:t>
            </a:r>
            <a:r>
              <a:rPr lang="en-IN" sz="1800" dirty="0" err="1">
                <a:solidFill>
                  <a:schemeClr val="bg1">
                    <a:lumMod val="85000"/>
                  </a:schemeClr>
                </a:solidFill>
                <a:effectLst/>
              </a:rPr>
              <a:t>ms</a:t>
            </a:r>
            <a:r>
              <a:rPr lang="en-IN" sz="1800" dirty="0">
                <a:solidFill>
                  <a:schemeClr val="bg1">
                    <a:lumMod val="85000"/>
                  </a:schemeClr>
                </a:solidFill>
                <a:effectLst/>
              </a:rPr>
              <a:t> to boot up for each test. For benchmark suites with thousands of questions, this creates massive throughput bottlenecks.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chemeClr val="bg1">
                    <a:lumMod val="85000"/>
                  </a:schemeClr>
                </a:solidFill>
                <a:effectLst/>
              </a:rPr>
              <a:t>The Solution:</a:t>
            </a:r>
            <a:r>
              <a:rPr lang="en-IN" sz="1800" dirty="0">
                <a:solidFill>
                  <a:schemeClr val="bg1">
                    <a:lumMod val="85000"/>
                  </a:schemeClr>
                </a:solidFill>
                <a:effectLst/>
              </a:rPr>
              <a:t> Built disposable cleanroom sandboxes protected by </a:t>
            </a:r>
            <a:r>
              <a:rPr lang="en-IN" sz="1800" b="1" dirty="0">
                <a:solidFill>
                  <a:schemeClr val="bg1">
                    <a:lumMod val="85000"/>
                  </a:schemeClr>
                </a:solidFill>
                <a:effectLst/>
              </a:rPr>
              <a:t>in-memory canary guards</a:t>
            </a:r>
            <a:r>
              <a:rPr lang="en-IN" sz="1800" dirty="0">
                <a:solidFill>
                  <a:schemeClr val="bg1">
                    <a:lumMod val="85000"/>
                  </a:schemeClr>
                </a:solidFill>
                <a:effectLst/>
              </a:rPr>
              <a:t> rather than heavy VM hypervisors.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chemeClr val="bg1">
                    <a:lumMod val="85000"/>
                  </a:schemeClr>
                </a:solidFill>
                <a:effectLst/>
              </a:rPr>
              <a:t>Outcome:</a:t>
            </a:r>
            <a:r>
              <a:rPr lang="en-IN" sz="1800" dirty="0">
                <a:solidFill>
                  <a:schemeClr val="bg1">
                    <a:lumMod val="85000"/>
                  </a:schemeClr>
                </a:solidFill>
                <a:effectLst/>
              </a:rPr>
              <a:t> Instantaneous sub-millisecond process boot times that still catch memory corruption, heap manipulation, and unauthorized subprocesses.</a:t>
            </a:r>
            <a:br>
              <a:rPr lang="en-IN" sz="1800" dirty="0">
                <a:solidFill>
                  <a:schemeClr val="bg1">
                    <a:lumMod val="85000"/>
                  </a:schemeClr>
                </a:solidFill>
              </a:rPr>
            </a:br>
            <a:endParaRPr lang="en-IN" sz="1800" dirty="0">
              <a:solidFill>
                <a:schemeClr val="bg1">
                  <a:lumMod val="95000"/>
                </a:schemeClr>
              </a:solidFill>
            </a:endParaRPr>
          </a:p>
          <a:p>
            <a:pPr>
              <a:buNone/>
            </a:pPr>
            <a:r>
              <a:rPr lang="en-IN" sz="1800" b="1" dirty="0">
                <a:solidFill>
                  <a:schemeClr val="bg1">
                    <a:lumMod val="95000"/>
                  </a:schemeClr>
                </a:solidFill>
              </a:rPr>
              <a:t>4. The "Dual Blindness" Problem: Privacy vs. Proof (DARPA)</a:t>
            </a:r>
            <a:endParaRPr lang="en-IN" sz="1800" dirty="0">
              <a:solidFill>
                <a:schemeClr val="bg1">
                  <a:lumMod val="95000"/>
                </a:schemeClr>
              </a:solidFill>
            </a:endParaRPr>
          </a:p>
          <a:p>
            <a:pPr lvl="0"/>
            <a:r>
              <a:rPr lang="en-IN" sz="1800" b="1" dirty="0">
                <a:solidFill>
                  <a:schemeClr val="bg1">
                    <a:lumMod val="95000"/>
                  </a:schemeClr>
                </a:solidFill>
              </a:rPr>
              <a:t>     The Challenge: How do you test an AI with secret attack prompts without the model leaking them?</a:t>
            </a:r>
          </a:p>
          <a:p>
            <a:pPr lvl="0"/>
            <a:r>
              <a:rPr lang="en-IN" sz="1800" b="1" dirty="0">
                <a:solidFill>
                  <a:schemeClr val="bg1">
                    <a:lumMod val="95000"/>
                  </a:schemeClr>
                </a:solidFill>
              </a:rPr>
              <a:t>     The Solution: </a:t>
            </a:r>
            <a:r>
              <a:rPr lang="en-IN" sz="1800" dirty="0">
                <a:solidFill>
                  <a:schemeClr val="bg1">
                    <a:lumMod val="95000"/>
                  </a:schemeClr>
                </a:solidFill>
              </a:rPr>
              <a:t>Dual-Sided Blind Vaults with Canary Tripwires. The AI only sees temporary, isolated references, and canary tokens</a:t>
            </a:r>
            <a:br>
              <a:rPr lang="en-IN" sz="18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IN" sz="1800" dirty="0">
                <a:solidFill>
                  <a:schemeClr val="bg1">
                    <a:lumMod val="95000"/>
                  </a:schemeClr>
                </a:solidFill>
              </a:rPr>
              <a:t>      immediately sound an alarm if the model tries to leak secrets (like in Lakera Gandalf attacks).</a:t>
            </a:r>
            <a:br>
              <a:rPr lang="en-IN" sz="18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IN" sz="1800" dirty="0">
                <a:solidFill>
                  <a:schemeClr val="bg1">
                    <a:lumMod val="95000"/>
                  </a:schemeClr>
                </a:solidFill>
              </a:rPr>
              <a:t>      </a:t>
            </a:r>
            <a:r>
              <a:rPr lang="en-IN" sz="1800" b="1" dirty="0">
                <a:solidFill>
                  <a:schemeClr val="bg1">
                    <a:lumMod val="95000"/>
                  </a:schemeClr>
                </a:solidFill>
              </a:rPr>
              <a:t>Outcome:</a:t>
            </a:r>
            <a:r>
              <a:rPr lang="en-IN" sz="1800" dirty="0">
                <a:solidFill>
                  <a:schemeClr val="bg1">
                    <a:lumMod val="95000"/>
                  </a:schemeClr>
                </a:solidFill>
              </a:rPr>
              <a:t> Zero prompt leaks, plus an ECDSA digital receipt proving the test happened without revealing secret data.</a:t>
            </a:r>
            <a:br>
              <a:rPr lang="en-IN" sz="1800" dirty="0">
                <a:solidFill>
                  <a:schemeClr val="bg1">
                    <a:lumMod val="95000"/>
                  </a:schemeClr>
                </a:solidFill>
              </a:rPr>
            </a:br>
            <a:endParaRPr lang="en-IN" sz="180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377927-22B2-DDC7-9F41-3F4CDCBA01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34191" y="2405409"/>
            <a:ext cx="1823072" cy="18230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B48EE0E-9231-7CF4-02FE-AD495BE5E4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13944" y="4047415"/>
            <a:ext cx="2438400" cy="2438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8FD81A6-27D2-B0EC-1E9E-0DCE6D78D2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464438" y="6134996"/>
            <a:ext cx="1992825" cy="19928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8512560-7AC1-F69F-70BA-0A5A5316B42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426347" y="8127821"/>
            <a:ext cx="2215613" cy="221561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Google Shape;148;p20"/>
          <p:cNvGrpSpPr/>
          <p:nvPr/>
        </p:nvGrpSpPr>
        <p:grpSpPr>
          <a:xfrm>
            <a:off x="4239144" y="5736501"/>
            <a:ext cx="8898075" cy="2077107"/>
            <a:chOff x="0" y="180975"/>
            <a:chExt cx="11864100" cy="2769476"/>
          </a:xfrm>
        </p:grpSpPr>
        <p:sp>
          <p:nvSpPr>
            <p:cNvPr id="149" name="Google Shape;149;p20"/>
            <p:cNvSpPr txBox="1"/>
            <p:nvPr/>
          </p:nvSpPr>
          <p:spPr>
            <a:xfrm>
              <a:off x="0" y="180975"/>
              <a:ext cx="11864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76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20"/>
            <p:cNvSpPr txBox="1"/>
            <p:nvPr/>
          </p:nvSpPr>
          <p:spPr>
            <a:xfrm>
              <a:off x="0" y="2581151"/>
              <a:ext cx="11864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76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1" name="Google Shape;151;p20"/>
          <p:cNvGrpSpPr/>
          <p:nvPr/>
        </p:nvGrpSpPr>
        <p:grpSpPr>
          <a:xfrm>
            <a:off x="2554002" y="5409216"/>
            <a:ext cx="12268350" cy="1305429"/>
            <a:chOff x="0" y="19050"/>
            <a:chExt cx="16357800" cy="1740572"/>
          </a:xfrm>
        </p:grpSpPr>
        <p:sp>
          <p:nvSpPr>
            <p:cNvPr id="152" name="Google Shape;152;p20"/>
            <p:cNvSpPr txBox="1"/>
            <p:nvPr/>
          </p:nvSpPr>
          <p:spPr>
            <a:xfrm>
              <a:off x="0" y="19050"/>
              <a:ext cx="16357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409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20"/>
            <p:cNvSpPr txBox="1"/>
            <p:nvPr/>
          </p:nvSpPr>
          <p:spPr>
            <a:xfrm>
              <a:off x="0" y="1390322"/>
              <a:ext cx="16357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701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4" name="Google Shape;154;p20"/>
          <p:cNvGrpSpPr/>
          <p:nvPr/>
        </p:nvGrpSpPr>
        <p:grpSpPr>
          <a:xfrm>
            <a:off x="1873714" y="4696929"/>
            <a:ext cx="13628822" cy="4488047"/>
            <a:chOff x="2753902" y="4797891"/>
            <a:chExt cx="13628822" cy="4488047"/>
          </a:xfrm>
        </p:grpSpPr>
        <p:sp>
          <p:nvSpPr>
            <p:cNvPr id="155" name="Google Shape;155;p20"/>
            <p:cNvSpPr txBox="1"/>
            <p:nvPr/>
          </p:nvSpPr>
          <p:spPr>
            <a:xfrm rot="-348051">
              <a:off x="2847493" y="5401630"/>
              <a:ext cx="12071717" cy="24624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5499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088" i="0" u="none" strike="noStrike" cap="none" dirty="0">
                  <a:solidFill>
                    <a:schemeClr val="bg1"/>
                  </a:solidFill>
                  <a:latin typeface="Caveat"/>
                  <a:ea typeface="Caveat"/>
                  <a:cs typeface="Caveat"/>
                  <a:sym typeface="Caveat"/>
                </a:rPr>
                <a:t>Thank</a:t>
              </a:r>
              <a:endParaRPr dirty="0">
                <a:solidFill>
                  <a:schemeClr val="bg1"/>
                </a:solidFill>
                <a:latin typeface="Caveat"/>
                <a:ea typeface="Caveat"/>
                <a:cs typeface="Caveat"/>
                <a:sym typeface="Caveat"/>
              </a:endParaRPr>
            </a:p>
          </p:txBody>
        </p:sp>
        <p:sp>
          <p:nvSpPr>
            <p:cNvPr id="156" name="Google Shape;156;p20"/>
            <p:cNvSpPr txBox="1"/>
            <p:nvPr/>
          </p:nvSpPr>
          <p:spPr>
            <a:xfrm>
              <a:off x="4695023" y="6732039"/>
              <a:ext cx="11687700" cy="25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5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167" i="0" u="none" strike="noStrike" cap="none" dirty="0">
                  <a:solidFill>
                    <a:schemeClr val="bg1"/>
                  </a:solidFill>
                  <a:latin typeface="Caveat"/>
                  <a:ea typeface="Caveat"/>
                  <a:cs typeface="Caveat"/>
                  <a:sym typeface="Caveat"/>
                </a:rPr>
                <a:t>you!</a:t>
              </a:r>
              <a:endParaRPr dirty="0">
                <a:solidFill>
                  <a:schemeClr val="bg1"/>
                </a:solidFill>
                <a:latin typeface="Caveat"/>
                <a:ea typeface="Caveat"/>
                <a:cs typeface="Caveat"/>
                <a:sym typeface="Caveat"/>
              </a:endParaRPr>
            </a:p>
          </p:txBody>
        </p:sp>
      </p:grpSp>
      <p:pic>
        <p:nvPicPr>
          <p:cNvPr id="157" name="Google Shape;157;p20" title="download (2).jpg"/>
          <p:cNvPicPr preferRelativeResize="0"/>
          <p:nvPr/>
        </p:nvPicPr>
        <p:blipFill rotWithShape="1">
          <a:blip r:embed="rId3">
            <a:alphaModFix/>
          </a:blip>
          <a:srcRect l="38928" r="16455"/>
          <a:stretch/>
        </p:blipFill>
        <p:spPr>
          <a:xfrm rot="-5400000">
            <a:off x="7123100" y="-7111200"/>
            <a:ext cx="4088375" cy="18326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0" title="Group 4809783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8675" y="296224"/>
            <a:ext cx="7240346" cy="79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0" title="Log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520575" y="296231"/>
            <a:ext cx="5599601" cy="7919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B7BBA23-8A31-B7CF-F414-E976B4E5711C}"/>
              </a:ext>
            </a:extLst>
          </p:cNvPr>
          <p:cNvSpPr txBox="1"/>
          <p:nvPr/>
        </p:nvSpPr>
        <p:spPr>
          <a:xfrm>
            <a:off x="7791708" y="9545088"/>
            <a:ext cx="103284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i="1" dirty="0">
                <a:solidFill>
                  <a:schemeClr val="bg1">
                    <a:lumMod val="95000"/>
                  </a:schemeClr>
                </a:solidFill>
              </a:rPr>
              <a:t>Benchmarks &amp; Datasets:</a:t>
            </a:r>
            <a:r>
              <a:rPr lang="en-IN" sz="1600" i="1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IN" sz="1600" i="1" dirty="0" err="1">
                <a:solidFill>
                  <a:schemeClr val="bg1">
                    <a:lumMod val="95000"/>
                  </a:schemeClr>
                </a:solidFill>
              </a:rPr>
              <a:t>AdvBench</a:t>
            </a:r>
            <a:r>
              <a:rPr lang="en-IN" sz="1600" i="1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en-IN" sz="1600" i="1" dirty="0" err="1">
                <a:solidFill>
                  <a:schemeClr val="bg1">
                    <a:lumMod val="95000"/>
                  </a:schemeClr>
                </a:solidFill>
              </a:rPr>
              <a:t>JailbreakBench</a:t>
            </a:r>
            <a:r>
              <a:rPr lang="en-IN" sz="1600" i="1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en-IN" sz="1600" i="1" dirty="0" err="1">
                <a:solidFill>
                  <a:schemeClr val="bg1">
                    <a:lumMod val="95000"/>
                  </a:schemeClr>
                </a:solidFill>
              </a:rPr>
              <a:t>HarmBench</a:t>
            </a:r>
            <a:r>
              <a:rPr lang="en-IN" sz="1600" i="1" dirty="0">
                <a:solidFill>
                  <a:schemeClr val="bg1">
                    <a:lumMod val="95000"/>
                  </a:schemeClr>
                </a:solidFill>
              </a:rPr>
              <a:t>, Lakera Gandalf</a:t>
            </a:r>
            <a:br>
              <a:rPr lang="en-IN" sz="1600" i="1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IN" sz="1600" b="1" i="1" dirty="0">
                <a:solidFill>
                  <a:schemeClr val="bg1">
                    <a:lumMod val="95000"/>
                  </a:schemeClr>
                </a:solidFill>
              </a:rPr>
              <a:t>Integrity &amp; Standards:</a:t>
            </a:r>
            <a:r>
              <a:rPr lang="en-IN" sz="1600" i="1" dirty="0">
                <a:solidFill>
                  <a:schemeClr val="bg1">
                    <a:lumMod val="95000"/>
                  </a:schemeClr>
                </a:solidFill>
              </a:rPr>
              <a:t> DARPA TC Provenance, NIST CVE taxonomy, ECDSA P-256 cryptographic verification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375</TotalTime>
  <Words>2019</Words>
  <Application>Microsoft Office PowerPoint</Application>
  <PresentationFormat>Custom</PresentationFormat>
  <Paragraphs>158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IBM Plex Sans</vt:lpstr>
      <vt:lpstr>Montserrat</vt:lpstr>
      <vt:lpstr>Calibri</vt:lpstr>
      <vt:lpstr>Arial</vt:lpstr>
      <vt:lpstr>Caveat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Akash Rawat</dc:creator>
  <cp:lastModifiedBy>Akash Rawat</cp:lastModifiedBy>
  <cp:revision>121</cp:revision>
  <dcterms:modified xsi:type="dcterms:W3CDTF">2026-10-12T14:18:54Z</dcterms:modified>
</cp:coreProperties>
</file>